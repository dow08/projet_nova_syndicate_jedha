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12192000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SYNDICATE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Sécurisée — Dossier Complet Phase 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0" y="2331720"/>
            <a:ext cx="64008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6888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des Besoins  ·  Architecture  ·  Active Directory  ·  Cybersécurité  ·  CAPEX / OPEX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645920" y="329184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2E86C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3291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ANSSI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0" y="329184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2E86C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3291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27001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0" y="329184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2E86C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3291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RGPD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80960" y="329184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2E86C1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32918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ITIL 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977640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1.0  ·  Avril 2026  ·  Phase I — Analyse &amp; Architecture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0" y="4434840"/>
            <a:ext cx="2743200" cy="411480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4434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CONFIDENTIEL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92000" cy="457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12192000" cy="18288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55464"/>
            <a:ext cx="10424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Syndicate — Infrastructure Sécurisée Phase I  |  CONFIDENTIEL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64008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7772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82296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des Besoins &amp; Cahier des Charges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335024"/>
            <a:ext cx="64008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35024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1380744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Infrastructure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1892808"/>
            <a:ext cx="64008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89280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193852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Directory : Forêt, OU &amp; GPO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2450592"/>
            <a:ext cx="64008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4505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496312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Cybersécurité : MFA, Chiffrement &amp; Lacunes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008376"/>
            <a:ext cx="64008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08376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054096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Monitoring, SLA, Forensique &amp; Automatisation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3566160"/>
            <a:ext cx="64008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5661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61188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Sauvegarde, Continuité &amp; Conformité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4123944"/>
            <a:ext cx="64008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123944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169664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 &amp; OPEX — Analyse des Scénarios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des Besoins &amp; Cahier des Charges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Contexte, contraintes et objectifs de la mission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92000" cy="457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 Présentation de Nova Syndicate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12192000" cy="18288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55464"/>
            <a:ext cx="10424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Syndicate — Infrastructure Sécurisée Phase I  |  CONFIDENTIEL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4846320" cy="3383280"/>
          </a:xfrm>
          <a:prstGeom prst="roundRect">
            <a:avLst>
              <a:gd name="adj" fmla="val 2703"/>
            </a:avLst>
          </a:prstGeom>
          <a:solidFill>
            <a:srgbClr val="F2F4F7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8686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ENTREPRISE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Secteur 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03120" y="13258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Logistique High-Tech (médical, aérospatial, défense)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Effectif 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03120" y="18288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employés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331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Sites 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2331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Lyon HQ (40) · Marseille (25) · Nomades (20)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834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Criticité 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28346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sensibles — continuité 24/7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337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Ref. légales 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03120" y="33375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ANSSI · ISO 27001 · RGPD · ITIL 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0" y="777240"/>
            <a:ext cx="5120640" cy="3383280"/>
          </a:xfrm>
          <a:prstGeom prst="roundRect">
            <a:avLst>
              <a:gd name="adj" fmla="val 2703"/>
            </a:avLst>
          </a:prstGeom>
          <a:solidFill>
            <a:srgbClr val="FADADD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868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ÉTAT AVANT PROJET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52160" y="13258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Aucun Active Directory → gestion manuelle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18288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Pas de MFA → risque usurpation identité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52160" y="23317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Réseau plat non segmenté → propagation attaques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52160" y="28346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Backups non vérifiés → perte de données possible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52160" y="33375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Aucun monitoring → incidents non détectés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52160" y="38404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Postes non chiffrés → vol de données critique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92000" cy="457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 Objectifs &amp; Priorisation MoSCoW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12192000" cy="18288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55464"/>
            <a:ext cx="10424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Syndicate — Infrastructure Sécurisée Phase I  |  CONFIDENTIEL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260604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4980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HAVE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2606040" cy="2304288"/>
          </a:xfrm>
          <a:prstGeom prst="rect">
            <a:avLst/>
          </a:prstGeom>
          <a:solidFill>
            <a:srgbClr val="FADADD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070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Active Directory Samba4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7830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Segmentation VLAN + pfSense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3591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MFA sur tous les accès critiques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93522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Backup 3-2-1-1-0 vérifié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08960" y="749808"/>
            <a:ext cx="2606040" cy="41148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74980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SHOULD HAVE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08960" y="1170432"/>
            <a:ext cx="2606040" cy="2304288"/>
          </a:xfrm>
          <a:prstGeom prst="rect">
            <a:avLst/>
          </a:prstGeom>
          <a:solidFill>
            <a:srgbClr val="FEF9E7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2070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Wazuh EDR / SIEM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17830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Chiffrement LUKS + BitLocker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0" y="23591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Workflow forensique automatisé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0" y="293522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Monitoring Prometheus/Grafana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0" y="749808"/>
            <a:ext cx="260604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74980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HAVE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0" y="1170432"/>
            <a:ext cx="2606040" cy="2304288"/>
          </a:xfrm>
          <a:prstGeom prst="rect">
            <a:avLst/>
          </a:prstGeom>
          <a:solidFill>
            <a:srgbClr val="F2F4F7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12070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Scripts automatisation Python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35040" y="17830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PKI interne pfSense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35040" y="23591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PCA / PRA documenté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35040" y="293522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OpenSCAP hebdomadaire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778240" y="749808"/>
            <a:ext cx="2606040" cy="41148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0" y="74980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WON'T HAVE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778240" y="1170432"/>
            <a:ext cx="2606040" cy="1728216"/>
          </a:xfrm>
          <a:prstGeom prst="rect">
            <a:avLst/>
          </a:prstGeom>
          <a:solidFill>
            <a:srgbClr val="F2F4F7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69680" y="12070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SIEM commercial Splunk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869680" y="17830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SOC externalisé 24/7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869680" y="23591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Redondance triplex hardware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Infrastructure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Hyperviseur, VLANs, pfSense et les 4 piliers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92000" cy="457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 Les 4 Piliers de l'Infrastructure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12192000" cy="18288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55464"/>
            <a:ext cx="10424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Syndicate — Infrastructure Sécurisée Phase I  |  CONFIDENTIEL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2F4F7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749808"/>
            <a:ext cx="2606040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749808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  Sécurité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16642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MFA + YubiKey FIDO2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" y="230428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Chiffrement LUKS / BitLocker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294436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pfSense Deny-by-Default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1480" y="358444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Wazuh EDR + SIEM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108960" y="749808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2F4F7"/>
          </a:solidFill>
          <a:ln w="25400">
            <a:solidFill>
              <a:srgbClr val="2E86C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8960" y="749808"/>
            <a:ext cx="2606040" cy="8229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749808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Disponibilité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46120" y="16642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Proxmox HA Cluster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46120" y="230428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DC01 + DC02 réplication AD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246120" y="294436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RTO &lt; 30min (AD)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246120" y="358444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VPN site-to-site redondant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43600" y="749808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2F4F7"/>
          </a:solidFill>
          <a:ln w="25400">
            <a:solidFill>
              <a:srgbClr val="1E84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749808"/>
            <a:ext cx="2606040" cy="8229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749808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Évolutivité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080760" y="16642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Virtualisation KVM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080760" y="230428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VLANs extensibles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080760" y="294436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API Proxmox automation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080760" y="358444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Architecture modulaire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778240" y="749808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2F4F7"/>
          </a:solidFill>
          <a:ln w="25400">
            <a:solidFill>
              <a:srgbClr val="D4AC0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78240" y="749808"/>
            <a:ext cx="2606040" cy="82296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0" y="749808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 Maintenabilité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915400" y="166420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Ansible playbooks IaC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915400" y="230428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GLPI ticketing ITIL 4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915400" y="294436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Docs standardisées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915400" y="358444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OpenSCAP compliance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92000" cy="457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 Proxmox VE &amp; Segmentation VLAN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12192000" cy="18288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55464"/>
            <a:ext cx="10424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Syndicate — Infrastructure Sécurisée Phase I  |  CONFIDENTIEL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5486400" cy="3931920"/>
          </a:xfrm>
          <a:prstGeom prst="roundRect">
            <a:avLst>
              <a:gd name="adj" fmla="val 1163"/>
            </a:avLst>
          </a:prstGeom>
          <a:solidFill>
            <a:srgbClr val="F2F4F7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49808"/>
            <a:ext cx="5486400" cy="384048"/>
          </a:xfrm>
          <a:prstGeom prst="rect">
            <a:avLst/>
          </a:prstGeom>
          <a:solidFill>
            <a:srgbClr val="1A2F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VMs Proxmox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070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VM01 — DC01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240280" y="12070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Samba4 AD + DNS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0" y="120700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vCPU / 8 Go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709928"/>
            <a:ext cx="5486400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72821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VM02 — pfSense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240280" y="172821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Pare-feu + VPN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0" y="172821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vCPU / 4 Go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231136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4942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VM03 — Wazuh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240280" y="224942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 + SIEM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0" y="224942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vCPU / 16 Go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752344"/>
            <a:ext cx="5486400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7706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VM04 — Fichiers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240280" y="27706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Samba + NFS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114800" y="277063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vCPU / 8 Go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273552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VM05 — SQL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24028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MariaDB + API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114800" y="32918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vCPU / 12 Go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794760"/>
            <a:ext cx="5486400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8130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VM06 — Docker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240280" y="38130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+ Services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114800" y="381304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vCPU / 8 Go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35040" y="749808"/>
            <a:ext cx="4663440" cy="3931920"/>
          </a:xfrm>
          <a:prstGeom prst="roundRect">
            <a:avLst>
              <a:gd name="adj" fmla="val 1163"/>
            </a:avLst>
          </a:prstGeom>
          <a:solidFill>
            <a:srgbClr val="F2F4F7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749808"/>
            <a:ext cx="4663440" cy="384048"/>
          </a:xfrm>
          <a:prstGeom prst="rect">
            <a:avLst/>
          </a:prstGeom>
          <a:solidFill>
            <a:srgbClr val="1A2F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VLANs pfSense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26480" y="1225296"/>
            <a:ext cx="914400" cy="4114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1225296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10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32320" y="124358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Serveurs Lyon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26480" y="1728216"/>
            <a:ext cx="91440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1728216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20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132320" y="17465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Postes Lyon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126480" y="2231136"/>
            <a:ext cx="914400" cy="4114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26480" y="2231136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30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32320" y="224942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Serveurs Marseille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126480" y="2734056"/>
            <a:ext cx="914400" cy="4114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2734056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40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132320" y="275234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Postes Marseille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126480" y="3236976"/>
            <a:ext cx="91440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0" y="3236976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50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132320" y="325526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126480" y="3739896"/>
            <a:ext cx="914400" cy="41148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26480" y="3739896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VLAN 100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132320" y="375818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 Nomades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Directory : Forêt, OU &amp; GPO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Samba4 — Structure, groupes de sécurité et politiques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92000" cy="457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 Structure Forêt Active Directory — Samba4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12192000" cy="18288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55464"/>
            <a:ext cx="10424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Syndicate — Infrastructure Sécurisée Phase I  |  CONFIDENTIEL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10424160" cy="47548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49808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FORÊT : nova-syndicate.local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0" y="1417320"/>
            <a:ext cx="7315200" cy="47548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1417320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DOMAINE : nova-syndicate.local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084832"/>
            <a:ext cx="1783080" cy="868680"/>
          </a:xfrm>
          <a:prstGeom prst="roundRect">
            <a:avLst>
              <a:gd name="adj" fmla="val 526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084832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40280" y="2084832"/>
            <a:ext cx="1783080" cy="868680"/>
          </a:xfrm>
          <a:prstGeom prst="roundRect">
            <a:avLst>
              <a:gd name="adj" fmla="val 526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0280" y="2084832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Admins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06240" y="2084832"/>
            <a:ext cx="1783080" cy="868680"/>
          </a:xfrm>
          <a:prstGeom prst="roundRect">
            <a:avLst>
              <a:gd name="adj" fmla="val 5263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2084832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Employés Lyon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2084832"/>
            <a:ext cx="1783080" cy="868680"/>
          </a:xfrm>
          <a:prstGeom prst="roundRect">
            <a:avLst>
              <a:gd name="adj" fmla="val 5263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084832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Employés MRS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2084832"/>
            <a:ext cx="1783080" cy="868680"/>
          </a:xfrm>
          <a:prstGeom prst="roundRect">
            <a:avLst>
              <a:gd name="adj" fmla="val 5263"/>
            </a:avLst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2084832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Nomades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104120" y="2084832"/>
            <a:ext cx="1783080" cy="868680"/>
          </a:xfrm>
          <a:prstGeom prst="roundRect">
            <a:avLst>
              <a:gd name="adj" fmla="val 5263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04120" y="2084832"/>
            <a:ext cx="1783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Serveurs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828800" y="1892808"/>
            <a:ext cx="7315200" cy="0"/>
          </a:xfrm>
          <a:prstGeom prst="line">
            <a:avLst/>
          </a:prstGeom>
          <a:noFill/>
          <a:ln w="19050">
            <a:solidFill>
              <a:srgbClr val="AED6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5860" y="1892808"/>
            <a:ext cx="0" cy="201168"/>
          </a:xfrm>
          <a:prstGeom prst="line">
            <a:avLst/>
          </a:prstGeom>
          <a:noFill/>
          <a:ln w="19050">
            <a:solidFill>
              <a:srgbClr val="AED6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31820" y="1892808"/>
            <a:ext cx="0" cy="201168"/>
          </a:xfrm>
          <a:prstGeom prst="line">
            <a:avLst/>
          </a:prstGeom>
          <a:noFill/>
          <a:ln w="19050">
            <a:solidFill>
              <a:srgbClr val="AED6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97780" y="1892808"/>
            <a:ext cx="0" cy="201168"/>
          </a:xfrm>
          <a:prstGeom prst="line">
            <a:avLst/>
          </a:prstGeom>
          <a:noFill/>
          <a:ln w="19050">
            <a:solidFill>
              <a:srgbClr val="AED6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63740" y="1892808"/>
            <a:ext cx="0" cy="201168"/>
          </a:xfrm>
          <a:prstGeom prst="line">
            <a:avLst/>
          </a:prstGeom>
          <a:noFill/>
          <a:ln w="19050">
            <a:solidFill>
              <a:srgbClr val="AED6F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29700" y="1892808"/>
            <a:ext cx="0" cy="201168"/>
          </a:xfrm>
          <a:prstGeom prst="line">
            <a:avLst/>
          </a:prstGeom>
          <a:noFill/>
          <a:ln w="19050">
            <a:solidFill>
              <a:srgbClr val="AED6F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995660" y="1892808"/>
            <a:ext cx="0" cy="201168"/>
          </a:xfrm>
          <a:prstGeom prst="line">
            <a:avLst/>
          </a:prstGeom>
          <a:noFill/>
          <a:ln w="19050">
            <a:solidFill>
              <a:srgbClr val="AED6F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15468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F2F4F7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2186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Rôles FSMO (DC01 — Lyon)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3584448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PDC Emulator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3803904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RID Master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4023360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Infrastructure Master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4242816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Schema Master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446227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Domain Naming Master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852160" y="3154680"/>
            <a:ext cx="4846320" cy="1508760"/>
          </a:xfrm>
          <a:prstGeom prst="roundRect">
            <a:avLst>
              <a:gd name="adj" fmla="val 4848"/>
            </a:avLst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0" y="321868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Réplication DC01 ↔ DC02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035040" y="3584448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Lyon  ←→  Site Marseille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 IPsec chiffré AES-256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Réplication toutes les 15 min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automatique si DC01 hors ligne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92000" cy="457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 GPO — Politiques de Groupe Clés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12192000" cy="18288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55464"/>
            <a:ext cx="10424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Syndicate — Infrastructure Sécurisée Phase I  |  CONFIDENTIEL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58952"/>
            <a:ext cx="292608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75895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GPO-Password-Policy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758952"/>
            <a:ext cx="1371600" cy="475488"/>
          </a:xfrm>
          <a:prstGeom prst="rect">
            <a:avLst/>
          </a:prstGeom>
          <a:solidFill>
            <a:srgbClr val="F2F4F7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758952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Domaine entier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758952"/>
            <a:ext cx="6080760" cy="475488"/>
          </a:xfrm>
          <a:prstGeom prst="rect">
            <a:avLst/>
          </a:prstGeom>
          <a:solidFill>
            <a:srgbClr val="F2F4F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758952"/>
            <a:ext cx="5989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Longueur min 14 chars · Complexité · Expiration 90j · Verrouillage 5 tentatives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1325880"/>
            <a:ext cx="292608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32588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GPO-MFA-Obligatoire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325880"/>
            <a:ext cx="1371600" cy="475488"/>
          </a:xfrm>
          <a:prstGeom prst="rect">
            <a:avLst/>
          </a:prstGeom>
          <a:solidFill>
            <a:srgbClr val="F2F4F7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32588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 les users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1325880"/>
            <a:ext cx="6080760" cy="475488"/>
          </a:xfrm>
          <a:prstGeom prst="rect">
            <a:avLst/>
          </a:prstGeom>
          <a:solidFill>
            <a:srgbClr val="F2F4F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325880"/>
            <a:ext cx="5989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TOTP Microsoft Authenticator requis · Blocage si non enrôlé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1892808"/>
            <a:ext cx="292608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89280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GPO-Admin-MFA-Hardkey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1892808"/>
            <a:ext cx="1371600" cy="475488"/>
          </a:xfrm>
          <a:prstGeom prst="rect">
            <a:avLst/>
          </a:prstGeom>
          <a:solidFill>
            <a:srgbClr val="F2F4F7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1892808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IT Admins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17720" y="1892808"/>
            <a:ext cx="6080760" cy="475488"/>
          </a:xfrm>
          <a:prstGeom prst="rect">
            <a:avLst/>
          </a:prstGeom>
          <a:solidFill>
            <a:srgbClr val="F2F4F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892808"/>
            <a:ext cx="5989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YubiKey FIDO2 obligatoire · Aucun accès admin sans clé physique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2459736"/>
            <a:ext cx="2926080" cy="47548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45973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GPO-USB-Block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0" y="2459736"/>
            <a:ext cx="1371600" cy="475488"/>
          </a:xfrm>
          <a:prstGeom prst="rect">
            <a:avLst/>
          </a:prstGeom>
          <a:solidFill>
            <a:srgbClr val="F2F4F7"/>
          </a:solidFill>
          <a:ln w="6350">
            <a:solidFill>
              <a:srgbClr val="D4AC0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2459736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 les postes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17720" y="2459736"/>
            <a:ext cx="6080760" cy="475488"/>
          </a:xfrm>
          <a:prstGeom prst="rect">
            <a:avLst/>
          </a:prstGeom>
          <a:solidFill>
            <a:srgbClr val="F2F4F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459736"/>
            <a:ext cx="5989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RemovableStorage=Deny · Whitelist imprimantes certifiées uniquement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" y="3026664"/>
            <a:ext cx="2926080" cy="47548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02666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GPO-Server-Hardening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0" y="3026664"/>
            <a:ext cx="1371600" cy="475488"/>
          </a:xfrm>
          <a:prstGeom prst="rect">
            <a:avLst/>
          </a:prstGeom>
          <a:solidFill>
            <a:srgbClr val="F2F4F7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46120" y="3026664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Serveurs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17720" y="3026664"/>
            <a:ext cx="6080760" cy="475488"/>
          </a:xfrm>
          <a:prstGeom prst="rect">
            <a:avLst/>
          </a:prstGeom>
          <a:solidFill>
            <a:srgbClr val="F2F4F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3026664"/>
            <a:ext cx="5989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 Benchmark L1 · Services inutiles désactivés · auditd actif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" y="3593592"/>
            <a:ext cx="2926080" cy="47548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59359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GPO-Audit-Logs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0" y="3593592"/>
            <a:ext cx="1371600" cy="475488"/>
          </a:xfrm>
          <a:prstGeom prst="rect">
            <a:avLst/>
          </a:prstGeom>
          <a:solidFill>
            <a:srgbClr val="F2F4F7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46120" y="3593592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Domaine entier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17720" y="3593592"/>
            <a:ext cx="6080760" cy="475488"/>
          </a:xfrm>
          <a:prstGeom prst="rect">
            <a:avLst/>
          </a:prstGeom>
          <a:solidFill>
            <a:srgbClr val="F2F4F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3593592"/>
            <a:ext cx="5989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Journalisation connexions, GPO, fichiers sensibles · Rétention WORM 12 mois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74320" y="4160520"/>
            <a:ext cx="2926080" cy="47548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416052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GPO-VPN-Only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00400" y="4160520"/>
            <a:ext cx="1371600" cy="475488"/>
          </a:xfrm>
          <a:prstGeom prst="rect">
            <a:avLst/>
          </a:prstGeom>
          <a:solidFill>
            <a:srgbClr val="F2F4F7"/>
          </a:solidFill>
          <a:ln w="6350">
            <a:solidFill>
              <a:srgbClr val="D4AC0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46120" y="416052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Nomades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617720" y="4160520"/>
            <a:ext cx="6080760" cy="475488"/>
          </a:xfrm>
          <a:prstGeom prst="rect">
            <a:avLst/>
          </a:prstGeom>
          <a:solidFill>
            <a:srgbClr val="F2F4F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4160520"/>
            <a:ext cx="5989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SI uniquement via VPN · Certificat client obligatoire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Cybersécurité : MFA, Chiffrement &amp; Lacunes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des accès, des données et réponse aux lacunes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92000" cy="457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 MFA — Déploiement par Profil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12192000" cy="18288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55464"/>
            <a:ext cx="10424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Syndicate — Infrastructure Sécurisée Phase I  |  CONFIDENTIEL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2560320" cy="502920"/>
          </a:xfrm>
          <a:prstGeom prst="rect">
            <a:avLst/>
          </a:prstGeom>
          <a:solidFill>
            <a:srgbClr val="1A2F5A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74980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749808"/>
            <a:ext cx="3108960" cy="502920"/>
          </a:xfrm>
          <a:prstGeom prst="rect">
            <a:avLst/>
          </a:prstGeom>
          <a:solidFill>
            <a:srgbClr val="1A2F5A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07792" y="74980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MFA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749808"/>
            <a:ext cx="2011680" cy="502920"/>
          </a:xfrm>
          <a:prstGeom prst="rect">
            <a:avLst/>
          </a:prstGeom>
          <a:solidFill>
            <a:srgbClr val="1A2F5A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16752" y="7498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55280" y="749808"/>
            <a:ext cx="1554480" cy="502920"/>
          </a:xfrm>
          <a:prstGeom prst="rect">
            <a:avLst/>
          </a:prstGeom>
          <a:solidFill>
            <a:srgbClr val="1A2F5A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28432" y="74980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1316736"/>
            <a:ext cx="2560320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31673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Admins IT (×2)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34640" y="1316736"/>
            <a:ext cx="3108960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07792" y="1316736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YubiKey 5 NFC FIDO2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1316736"/>
            <a:ext cx="2011680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6752" y="1316736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55280" y="1316736"/>
            <a:ext cx="1554480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28432" y="1316736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120 €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1883664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188366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(×5)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834640" y="1883664"/>
            <a:ext cx="3108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07792" y="1883664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TOTP Microsoft Authenticator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0" y="1883664"/>
            <a:ext cx="2011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16752" y="188366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Très élevé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55280" y="18836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28432" y="188366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0 €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2450592"/>
            <a:ext cx="2560320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245059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Employés (×60)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834640" y="2450592"/>
            <a:ext cx="3108960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07792" y="245059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TOTP Microsoft Authenticator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943600" y="2450592"/>
            <a:ext cx="2011680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16752" y="245059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Élevé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955280" y="2450592"/>
            <a:ext cx="1554480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28432" y="245059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0 €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74320" y="3017520"/>
            <a:ext cx="25603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3017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Nomades (×20)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834640" y="3017520"/>
            <a:ext cx="3108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07792" y="30175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TOTP + Certificat VPN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943600" y="3017520"/>
            <a:ext cx="2011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16752" y="3017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Très élevé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955280" y="3017520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28432" y="30175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0 €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74320" y="3584448"/>
            <a:ext cx="2560320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" y="358444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Stagiaires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834640" y="3584448"/>
            <a:ext cx="3108960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07792" y="358444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TOTP — compte 90j max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943600" y="3584448"/>
            <a:ext cx="2011680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16752" y="35844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955280" y="3584448"/>
            <a:ext cx="1554480" cy="502920"/>
          </a:xfrm>
          <a:prstGeom prst="rect">
            <a:avLst/>
          </a:prstGeom>
          <a:solidFill>
            <a:srgbClr val="F2F4F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028432" y="358444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0 €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74320" y="4251960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FADADD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2519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RÈGLE D'OR MFA : Ne jamais approuver une demande MFA que vous n'avez pas vous-même déclenchée.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92000" cy="457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 Chiffrement — Transit &amp; Au Repos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12192000" cy="18288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55464"/>
            <a:ext cx="10424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Syndicate — Infrastructure Sécurisée Phase I  |  CONFIDENTIEL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5212080" cy="868680"/>
          </a:xfrm>
          <a:prstGeom prst="roundRect">
            <a:avLst>
              <a:gd name="adj" fmla="val 6316"/>
            </a:avLst>
          </a:prstGeom>
          <a:solidFill>
            <a:srgbClr val="F2F4F7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777240"/>
            <a:ext cx="1828800" cy="8686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77724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Réseau interne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240280" y="82296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 1.3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123444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 + ECDHE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737360"/>
            <a:ext cx="5212080" cy="868680"/>
          </a:xfrm>
          <a:prstGeom prst="roundRect">
            <a:avLst>
              <a:gd name="adj" fmla="val 6316"/>
            </a:avLst>
          </a:prstGeom>
          <a:solidFill>
            <a:srgbClr val="F2F4F7"/>
          </a:solidFill>
          <a:ln w="19050">
            <a:solidFill>
              <a:srgbClr val="2E86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737360"/>
            <a:ext cx="1828800" cy="8686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73736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 site-à-site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240280" y="17830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IPsec + OpenVPN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40280" y="219456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 + SHA-384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697480"/>
            <a:ext cx="5212080" cy="868680"/>
          </a:xfrm>
          <a:prstGeom prst="roundRect">
            <a:avLst>
              <a:gd name="adj" fmla="val 6316"/>
            </a:avLst>
          </a:prstGeom>
          <a:solidFill>
            <a:srgbClr val="F2F4F7"/>
          </a:solidFill>
          <a:ln w="19050">
            <a:solidFill>
              <a:srgbClr val="1E84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697480"/>
            <a:ext cx="1828800" cy="8686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69748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VMs Linux (disques)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240280" y="27432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LUKS2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40280" y="315468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AES-256-XTS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657600"/>
            <a:ext cx="5212080" cy="868680"/>
          </a:xfrm>
          <a:prstGeom prst="roundRect">
            <a:avLst>
              <a:gd name="adj" fmla="val 6316"/>
            </a:avLst>
          </a:prstGeom>
          <a:solidFill>
            <a:srgbClr val="F2F4F7"/>
          </a:solidFill>
          <a:ln w="19050">
            <a:solidFill>
              <a:srgbClr val="1E844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657600"/>
            <a:ext cx="1828800" cy="8686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65760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Postes Windows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240280" y="370332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BitLocker + TPM 2.0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240280" y="411480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852160" y="777240"/>
            <a:ext cx="5212080" cy="868680"/>
          </a:xfrm>
          <a:prstGeom prst="roundRect">
            <a:avLst>
              <a:gd name="adj" fmla="val 6316"/>
            </a:avLst>
          </a:prstGeom>
          <a:solidFill>
            <a:srgbClr val="F2F4F7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52160" y="777240"/>
            <a:ext cx="182880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25312" y="77724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Mots de passe AD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818120" y="82296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PBKDF2-SHA512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818120" y="123444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+ sel 128 bits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52160" y="1737360"/>
            <a:ext cx="5212080" cy="868680"/>
          </a:xfrm>
          <a:prstGeom prst="roundRect">
            <a:avLst>
              <a:gd name="adj" fmla="val 6316"/>
            </a:avLst>
          </a:prstGeom>
          <a:solidFill>
            <a:srgbClr val="F2F4F7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52160" y="1737360"/>
            <a:ext cx="182880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25312" y="173736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(serveurs)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818120" y="178308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Clés asymétriques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818120" y="219456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Ed25519 / RSA 4096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852160" y="2697480"/>
            <a:ext cx="5212080" cy="868680"/>
          </a:xfrm>
          <a:prstGeom prst="roundRect">
            <a:avLst>
              <a:gd name="adj" fmla="val 6316"/>
            </a:avLst>
          </a:prstGeom>
          <a:solidFill>
            <a:srgbClr val="F2F4F7"/>
          </a:solidFill>
          <a:ln w="19050">
            <a:solidFill>
              <a:srgbClr val="D4AC0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52160" y="2697480"/>
            <a:ext cx="1828800" cy="86868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25312" y="269748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Ansible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818120" y="274320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 Vault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818120" y="315468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852160" y="3657600"/>
            <a:ext cx="5212080" cy="868680"/>
          </a:xfrm>
          <a:prstGeom prst="roundRect">
            <a:avLst>
              <a:gd name="adj" fmla="val 6316"/>
            </a:avLst>
          </a:prstGeom>
          <a:solidFill>
            <a:srgbClr val="F2F4F7"/>
          </a:solidFill>
          <a:ln w="19050">
            <a:solidFill>
              <a:srgbClr val="D4AC0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52160" y="3657600"/>
            <a:ext cx="1828800" cy="86868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25312" y="3657600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Certificats PKI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7818120" y="370332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 pfSense interne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818120" y="411480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ECDSA P-384 / RSA 4096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Monitoring, SLA &amp; Forensique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Wazuh EDR, Prometheus/Grafana, chaîne de custody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92000" cy="457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  Wazuh EDR &amp; Calibration des Alertes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12192000" cy="18288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55464"/>
            <a:ext cx="10424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Syndicate — Infrastructure Sécurisée Phase I  |  CONFIDENTIEL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6492240" cy="3931920"/>
          </a:xfrm>
          <a:prstGeom prst="roundRect">
            <a:avLst>
              <a:gd name="adj" fmla="val 1395"/>
            </a:avLst>
          </a:prstGeom>
          <a:solidFill>
            <a:srgbClr val="F2F4F7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49808"/>
            <a:ext cx="6492240" cy="384048"/>
          </a:xfrm>
          <a:prstGeom prst="rect">
            <a:avLst/>
          </a:prstGeom>
          <a:solidFill>
            <a:srgbClr val="1A2F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Matrice Niveaux &amp; SLA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6492240" cy="804672"/>
          </a:xfrm>
          <a:prstGeom prst="rect">
            <a:avLst/>
          </a:prstGeom>
          <a:solidFill>
            <a:srgbClr val="FADADD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188720"/>
            <a:ext cx="2011680" cy="8046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188720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— Critique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1188720"/>
            <a:ext cx="1188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 12+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11880" y="1188720"/>
            <a:ext cx="1188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 &lt; 15 min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46320" y="1188720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 Admin + blocage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057400"/>
            <a:ext cx="6492240" cy="804672"/>
          </a:xfrm>
          <a:prstGeom prst="rect">
            <a:avLst/>
          </a:prstGeom>
          <a:solidFill>
            <a:srgbClr val="FEF9E7"/>
          </a:solidFill>
          <a:ln w="6350">
            <a:solidFill>
              <a:srgbClr val="D4AC0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057400"/>
            <a:ext cx="2011680" cy="80467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057400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— Élevée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77440" y="2057400"/>
            <a:ext cx="1188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 8-11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11880" y="2057400"/>
            <a:ext cx="1188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C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 &lt; 1h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2057400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digest horaire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6492240" cy="804672"/>
          </a:xfrm>
          <a:prstGeom prst="rect">
            <a:avLst/>
          </a:prstGeom>
          <a:solidFill>
            <a:srgbClr val="F2F4F7"/>
          </a:solidFill>
          <a:ln w="6350">
            <a:solidFill>
              <a:srgbClr val="2E86C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926080"/>
            <a:ext cx="2011680" cy="8046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926080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— Modérée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77440" y="2926080"/>
            <a:ext cx="1188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 5-7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611880" y="2926080"/>
            <a:ext cx="1188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 &lt; 4h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46320" y="2926080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GLPI auto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794760"/>
            <a:ext cx="6492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5555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794760"/>
            <a:ext cx="2011680" cy="80467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794760"/>
            <a:ext cx="19202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— Info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377440" y="3794760"/>
            <a:ext cx="1188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 1-4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611880" y="3794760"/>
            <a:ext cx="1188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 &lt; 24h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46320" y="3794760"/>
            <a:ext cx="1737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uniquement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40880" y="749808"/>
            <a:ext cx="3657600" cy="3931920"/>
          </a:xfrm>
          <a:prstGeom prst="roundRect">
            <a:avLst>
              <a:gd name="adj" fmla="val 1500"/>
            </a:avLst>
          </a:prstGeom>
          <a:solidFill>
            <a:srgbClr val="F2F4F7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0" y="749808"/>
            <a:ext cx="3657600" cy="384048"/>
          </a:xfrm>
          <a:prstGeom prst="rect">
            <a:avLst/>
          </a:prstGeom>
          <a:solidFill>
            <a:srgbClr val="1E844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Anti-Spam Alertes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223760" y="11887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Max 10 emails / heure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223760" y="154533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Digest P2/P3 groupé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223760" y="19019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Seuil brute-force SSH : 5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223760" y="22585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Corrélation : 3 événements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223760" y="261518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1 seule alerte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223760" y="29718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Whitelist scan interne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223760" y="332841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Wazuh Active Response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223760" y="368503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isolation VLAN auto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223760" y="40416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Rapport PDF hebdo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Sauvegarde, Continuité &amp; Conformité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 3-2-1-1-0, RTO/RPO et PRI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92000" cy="457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  Stratégie 3-2-1-1-0 &amp; Objectifs RTO/RPO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12192000" cy="18288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55464"/>
            <a:ext cx="10424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Syndicate — Infrastructure Sécurisée Phase I  |  CONFIDENTIEL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229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274320" y="178308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copies des données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2585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+ 2 sauvegardes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749808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8229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2450592" y="178308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différents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50592" y="22585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 Local + Cloud S3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749808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8229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4626864" y="178308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 hors-site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26864" y="22585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Wasabi S3 WORM (cloud)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03136" y="749808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03136" y="8229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400" dirty="0"/>
          </a:p>
        </p:txBody>
      </p:sp>
      <p:sp>
        <p:nvSpPr>
          <p:cNvPr id="21" name="Text 19"/>
          <p:cNvSpPr/>
          <p:nvPr/>
        </p:nvSpPr>
        <p:spPr>
          <a:xfrm>
            <a:off x="6803136" y="178308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copie immuable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03136" y="22585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 WORM — anti-ransomware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979408" y="749808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79408" y="8229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400" dirty="0"/>
          </a:p>
        </p:txBody>
      </p:sp>
      <p:sp>
        <p:nvSpPr>
          <p:cNvPr id="25" name="Text 23"/>
          <p:cNvSpPr/>
          <p:nvPr/>
        </p:nvSpPr>
        <p:spPr>
          <a:xfrm>
            <a:off x="8979408" y="178308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erreur vérifiée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979408" y="22585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Veeam SureBackup hebdo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788920"/>
            <a:ext cx="10698480" cy="38404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78892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40480" y="278892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 cible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06640" y="278892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RPO cible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74320" y="3218688"/>
            <a:ext cx="3520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218688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Directory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840480" y="3218688"/>
            <a:ext cx="3520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86200" y="3218688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30 min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406640" y="3218688"/>
            <a:ext cx="3520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52360" y="3218688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15 min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74320" y="3566160"/>
            <a:ext cx="3520440" cy="329184"/>
          </a:xfrm>
          <a:prstGeom prst="rect">
            <a:avLst/>
          </a:prstGeom>
          <a:solidFill>
            <a:srgbClr val="F2F4F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566160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SQL (MariaDB)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840480" y="3566160"/>
            <a:ext cx="3520440" cy="329184"/>
          </a:xfrm>
          <a:prstGeom prst="rect">
            <a:avLst/>
          </a:prstGeom>
          <a:solidFill>
            <a:srgbClr val="F2F4F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86200" y="3566160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2h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406640" y="3566160"/>
            <a:ext cx="3520440" cy="329184"/>
          </a:xfrm>
          <a:prstGeom prst="rect">
            <a:avLst/>
          </a:prstGeom>
          <a:solidFill>
            <a:srgbClr val="F2F4F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52360" y="3566160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1h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274320" y="3913632"/>
            <a:ext cx="3520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391363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Serveur de fichiers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3840480" y="3913632"/>
            <a:ext cx="3520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86200" y="391363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2h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7406640" y="3913632"/>
            <a:ext cx="3520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52360" y="3913632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4h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274320" y="4261104"/>
            <a:ext cx="3520440" cy="329184"/>
          </a:xfrm>
          <a:prstGeom prst="rect">
            <a:avLst/>
          </a:prstGeom>
          <a:solidFill>
            <a:srgbClr val="F2F4F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4261104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Docker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3840480" y="4261104"/>
            <a:ext cx="3520440" cy="329184"/>
          </a:xfrm>
          <a:prstGeom prst="rect">
            <a:avLst/>
          </a:prstGeom>
          <a:solidFill>
            <a:srgbClr val="F2F4F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86200" y="4261104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1h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7406640" y="4261104"/>
            <a:ext cx="3520440" cy="329184"/>
          </a:xfrm>
          <a:prstGeom prst="rect">
            <a:avLst/>
          </a:prstGeom>
          <a:solidFill>
            <a:srgbClr val="F2F4F7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52360" y="4261104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4h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274320" y="4608576"/>
            <a:ext cx="3520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4608576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 Complet (SI)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3840480" y="4608576"/>
            <a:ext cx="3520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86200" y="4608576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24h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7406640" y="4608576"/>
            <a:ext cx="3520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AED6F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52360" y="4608576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24h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 &amp; OPEX — Analyse des Scénarios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Comparaison TCO 5 ans : Light · Balanced · Enterprise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12192000" cy="457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  Comparaison TCO 5 ans — 3 Scénarios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12192000" cy="18288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55464"/>
            <a:ext cx="10424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Syndicate — Infrastructure Sécurisée Phase I  |  CONFIDENTIEL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49808"/>
            <a:ext cx="3383280" cy="3931920"/>
          </a:xfrm>
          <a:prstGeom prst="roundRect">
            <a:avLst>
              <a:gd name="adj" fmla="val 2703"/>
            </a:avLst>
          </a:prstGeom>
          <a:solidFill>
            <a:srgbClr val="D5F5E3"/>
          </a:solidFill>
          <a:ln w="31750">
            <a:solidFill>
              <a:srgbClr val="1E84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749808"/>
            <a:ext cx="3383280" cy="7315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777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Scénario A — LIGHT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097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Maximal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600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8745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4 700 €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2258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5 ans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53288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1 620 €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" y="29169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TCO 5 ans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19125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6 320 €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11480" y="36118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Proxmox + pfSense CE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Samba4 + Veeam Community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Wazuh Open Source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Zéro licence commerciale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931920" y="749808"/>
            <a:ext cx="3383280" cy="3931920"/>
          </a:xfrm>
          <a:prstGeom prst="roundRect">
            <a:avLst>
              <a:gd name="adj" fmla="val 2703"/>
            </a:avLst>
          </a:prstGeom>
          <a:solidFill>
            <a:srgbClr val="F2F4F7"/>
          </a:solidFill>
          <a:ln w="31750">
            <a:solidFill>
              <a:srgbClr val="2E86C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0" y="749808"/>
            <a:ext cx="3383280" cy="7315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777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Scénario B — BALANCED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023360" y="1097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Recommandé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1600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18745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9 300 €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114800" y="2258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5 ans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253288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9 550 €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114800" y="29169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TCO 5 ans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0" y="319125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18 850 €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069080" y="36118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Proxmox + Veeam Essentials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Samba4 + Wazuh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Wasabi S3 WORM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pro limité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589520" y="749808"/>
            <a:ext cx="3383280" cy="3931920"/>
          </a:xfrm>
          <a:prstGeom prst="roundRect">
            <a:avLst>
              <a:gd name="adj" fmla="val 2703"/>
            </a:avLst>
          </a:prstGeom>
          <a:solidFill>
            <a:srgbClr val="FADADD"/>
          </a:solidFill>
          <a:ln w="31750">
            <a:solidFill>
              <a:srgbClr val="C039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749808"/>
            <a:ext cx="3383280" cy="7315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777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Scénario C — ENTERPRISE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680960" y="1097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Propriétaire Complet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72400" y="1600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0" y="187452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60 000 €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772400" y="2258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5 ans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0" y="253288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274 000 €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772400" y="29169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TCO 5 ans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72400" y="319125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334 000 €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726680" y="36118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VMware vSphere + vCenter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Server + AD natif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 Enterprise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SentinelOne EDR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4754880"/>
            <a:ext cx="10698480" cy="0"/>
          </a:xfrm>
          <a:prstGeom prst="roundRect">
            <a:avLst>
              <a:gd name="adj" fmla="val Infinity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F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RECOMMANDATION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Scénario B — Balanced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meilleur rapport Sécurité / Budget pour Nova Syndicate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TCO 5 ans : 18 850 € — 94 % moins cher que l'option Enterprise (334 000 €)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889504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Sécurité Niveau B : MFA, Wazuh EDR, Backup WORM, Chiffrement complet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401568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F5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Conformité ANSSI ~38/42, ISO 27001, RGPD, ITIL 4 — objectifs atteints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913632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Stack 100 % maîtrisable en interne par l'équipe IT de Nova Syndicate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425696"/>
            <a:ext cx="10058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Évolutivité : migration vers Scénario C possible sans repartir de zéro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4892040"/>
            <a:ext cx="12192000" cy="1371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4910328"/>
            <a:ext cx="104241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Syndicate — Infrastructure Sécurisée Phase I  ·  Version 1.0 — Avril 2026  ·  CONFIDENTIEL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2026-04-13T12:56:01Z</dcterms:created>
  <dcterms:modified xsi:type="dcterms:W3CDTF">2026-04-13T12:56:01Z</dcterms:modified>
</cp:coreProperties>
</file>