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D4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NOVA SYNDICATE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Projet AIS — Infrastructure Sécurisée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Analyse · Phase II Implémentation · Phase III Amélioration &amp; PCA/PRA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3108960"/>
            <a:ext cx="1078992" cy="329184"/>
          </a:xfrm>
          <a:prstGeom prst="rect">
            <a:avLst>
              <a:gd name="adj" fmla="val 11111"/>
            </a:avLst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3108960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ANSSI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45920" y="3108960"/>
            <a:ext cx="1078992" cy="329184"/>
          </a:xfrm>
          <a:prstGeom prst="rect">
            <a:avLst>
              <a:gd name="adj" fmla="val 11111"/>
            </a:avLst>
          </a:prstGeom>
          <a:solidFill>
            <a:srgbClr val="1B3A4B"/>
          </a:solidFill>
          <a:ln/>
        </p:spPr>
      </p:sp>
      <p:sp>
        <p:nvSpPr>
          <p:cNvPr id="9" name="Text 6"/>
          <p:cNvSpPr/>
          <p:nvPr/>
        </p:nvSpPr>
        <p:spPr>
          <a:xfrm>
            <a:off x="1645920" y="3108960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834640" y="3108960"/>
            <a:ext cx="1078992" cy="329184"/>
          </a:xfrm>
          <a:prstGeom prst="rect">
            <a:avLst>
              <a:gd name="adj" fmla="val 11111"/>
            </a:avLst>
          </a:prstGeom>
          <a:solidFill>
            <a:srgbClr val="1B3A4B"/>
          </a:solidFill>
          <a:ln/>
        </p:spPr>
      </p:sp>
      <p:sp>
        <p:nvSpPr>
          <p:cNvPr id="11" name="Text 8"/>
          <p:cNvSpPr/>
          <p:nvPr/>
        </p:nvSpPr>
        <p:spPr>
          <a:xfrm>
            <a:off x="2834640" y="3108960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3360" y="3108960"/>
            <a:ext cx="1078992" cy="329184"/>
          </a:xfrm>
          <a:prstGeom prst="rect">
            <a:avLst>
              <a:gd name="adj" fmla="val 11111"/>
            </a:avLst>
          </a:prstGeom>
          <a:solidFill>
            <a:srgbClr val="1B3A4B"/>
          </a:solidFill>
          <a:ln/>
        </p:spPr>
      </p:sp>
      <p:sp>
        <p:nvSpPr>
          <p:cNvPr id="13" name="Text 10"/>
          <p:cNvSpPr/>
          <p:nvPr/>
        </p:nvSpPr>
        <p:spPr>
          <a:xfrm>
            <a:off x="4023360" y="3108960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ITIL 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212080" y="3108960"/>
            <a:ext cx="1078992" cy="329184"/>
          </a:xfrm>
          <a:prstGeom prst="rect">
            <a:avLst>
              <a:gd name="adj" fmla="val 11111"/>
            </a:avLst>
          </a:prstGeom>
          <a:solidFill>
            <a:srgbClr val="1B3A4B"/>
          </a:solidFill>
          <a:ln/>
        </p:spPr>
      </p:sp>
      <p:sp>
        <p:nvSpPr>
          <p:cNvPr id="15" name="Text 12"/>
          <p:cNvSpPr/>
          <p:nvPr/>
        </p:nvSpPr>
        <p:spPr>
          <a:xfrm>
            <a:off x="5212080" y="3108960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3657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d'Infrastructures Sécurisées — Titre RNCP Niveau 6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— Avril 2026  |  CONFIDENTIEL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0" y="914400"/>
            <a:ext cx="2560320" cy="2560320"/>
          </a:xfrm>
          <a:prstGeom prst="oval">
            <a:avLst/>
          </a:prstGeom>
          <a:solidFill>
            <a:srgbClr val="1B3A4B">
              <a:alpha val="88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7132320" y="2286000"/>
            <a:ext cx="1645920" cy="1645920"/>
          </a:xfrm>
          <a:prstGeom prst="oval">
            <a:avLst/>
          </a:prstGeom>
          <a:solidFill>
            <a:srgbClr val="1B3A4B">
              <a:alpha val="9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7863840" y="457200"/>
            <a:ext cx="914400" cy="914400"/>
          </a:xfrm>
          <a:prstGeom prst="oval">
            <a:avLst/>
          </a:prstGeom>
          <a:solidFill>
            <a:srgbClr val="1B3A4B">
              <a:alpha val="8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0116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Lexique des Acronymes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59436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acronymes utilisés dans ce dossier — à consulter pendant la présentation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86868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86868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987552" y="8686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List — liste de droits d'accès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74320" y="111556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11155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987552" y="111556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 — annuaire centralisé identités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74320" y="136245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274320" y="136245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ANSSI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987552" y="136245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Nationale de la Sécurité des SI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" y="160934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274320" y="16093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87552" y="160934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Programming Interface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320" y="185623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18562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987552" y="185623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Expenditure — investissement initial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74320" y="210312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" y="210312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987552" y="210312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for Internet Security (benchmarks sécurité)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274320" y="235000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274320" y="235000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987552" y="235000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 Management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274320" y="259689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" y="259689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987552" y="259689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Controller — contrôleur de domaine AD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74320" y="284378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274320" y="284378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DFS-R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987552" y="284378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File System Replication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274320" y="309067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309067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987552" y="309067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Loss Prevention — prévention fuite données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274320" y="333756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274320" y="333756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987552" y="3337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Name System — résolution de noms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274320" y="358444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274320" y="358444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987552" y="358444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des Systèmes d'Information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274320" y="383133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43" name="Text 40"/>
          <p:cNvSpPr/>
          <p:nvPr/>
        </p:nvSpPr>
        <p:spPr>
          <a:xfrm>
            <a:off x="274320" y="383133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987552" y="383133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Detection &amp; Response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274320" y="407822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407822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FIDO2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987552" y="407822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clés sécurité physiques (YubiKey)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274320" y="432511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49" name="Text 46"/>
          <p:cNvSpPr/>
          <p:nvPr/>
        </p:nvSpPr>
        <p:spPr>
          <a:xfrm>
            <a:off x="274320" y="432511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FSMO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987552" y="432511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Single Master Operations (rôles AD)</a:t>
            </a:r>
            <a:endParaRPr lang="en-US" sz="750" dirty="0"/>
          </a:p>
        </p:txBody>
      </p:sp>
      <p:sp>
        <p:nvSpPr>
          <p:cNvPr id="51" name="Shape 48"/>
          <p:cNvSpPr/>
          <p:nvPr/>
        </p:nvSpPr>
        <p:spPr>
          <a:xfrm>
            <a:off x="274320" y="457200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52" name="Text 49"/>
          <p:cNvSpPr/>
          <p:nvPr/>
        </p:nvSpPr>
        <p:spPr>
          <a:xfrm>
            <a:off x="274320" y="457200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987552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Policy Object — politique de groupe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274320" y="481888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55" name="Text 52"/>
          <p:cNvSpPr/>
          <p:nvPr/>
        </p:nvSpPr>
        <p:spPr>
          <a:xfrm>
            <a:off x="274320" y="481888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987552" y="481888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— haute disponibilité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2487168" y="86868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58" name="Text 55"/>
          <p:cNvSpPr/>
          <p:nvPr/>
        </p:nvSpPr>
        <p:spPr>
          <a:xfrm>
            <a:off x="2487168" y="86868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3200400" y="8686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Security Module — coffre-fort de clés</a:t>
            </a:r>
            <a:endParaRPr lang="en-US" sz="750" dirty="0"/>
          </a:p>
        </p:txBody>
      </p:sp>
      <p:sp>
        <p:nvSpPr>
          <p:cNvPr id="60" name="Shape 57"/>
          <p:cNvSpPr/>
          <p:nvPr/>
        </p:nvSpPr>
        <p:spPr>
          <a:xfrm>
            <a:off x="2487168" y="111556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61" name="Text 58"/>
          <p:cNvSpPr/>
          <p:nvPr/>
        </p:nvSpPr>
        <p:spPr>
          <a:xfrm>
            <a:off x="2487168" y="11155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3200400" y="111556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2487168" y="136245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2487168" y="136245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3200400" y="136245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Protocol Security (VPN)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2487168" y="160934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67" name="Text 64"/>
          <p:cNvSpPr/>
          <p:nvPr/>
        </p:nvSpPr>
        <p:spPr>
          <a:xfrm>
            <a:off x="2487168" y="16093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ITIL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3200400" y="160934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Infrastructure Library (gestion services IT)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2487168" y="185623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70" name="Text 67"/>
          <p:cNvSpPr/>
          <p:nvPr/>
        </p:nvSpPr>
        <p:spPr>
          <a:xfrm>
            <a:off x="2487168" y="18562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KVM</a:t>
            </a:r>
            <a:endParaRPr lang="en-US" sz="800" dirty="0"/>
          </a:p>
        </p:txBody>
      </p:sp>
      <p:sp>
        <p:nvSpPr>
          <p:cNvPr id="71" name="Text 68"/>
          <p:cNvSpPr/>
          <p:nvPr/>
        </p:nvSpPr>
        <p:spPr>
          <a:xfrm>
            <a:off x="3200400" y="185623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Kernel-based Virtual Machine</a:t>
            </a:r>
            <a:endParaRPr lang="en-US" sz="750" dirty="0"/>
          </a:p>
        </p:txBody>
      </p:sp>
      <p:sp>
        <p:nvSpPr>
          <p:cNvPr id="72" name="Shape 69"/>
          <p:cNvSpPr/>
          <p:nvPr/>
        </p:nvSpPr>
        <p:spPr>
          <a:xfrm>
            <a:off x="2487168" y="210312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73" name="Text 70"/>
          <p:cNvSpPr/>
          <p:nvPr/>
        </p:nvSpPr>
        <p:spPr>
          <a:xfrm>
            <a:off x="2487168" y="210312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LUKS</a:t>
            </a:r>
            <a:endParaRPr lang="en-US" sz="800" dirty="0"/>
          </a:p>
        </p:txBody>
      </p:sp>
      <p:sp>
        <p:nvSpPr>
          <p:cNvPr id="74" name="Text 71"/>
          <p:cNvSpPr/>
          <p:nvPr/>
        </p:nvSpPr>
        <p:spPr>
          <a:xfrm>
            <a:off x="3200400" y="210312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Unified Key Setup (chiffrement disque)</a:t>
            </a:r>
            <a:endParaRPr lang="en-US" sz="750" dirty="0"/>
          </a:p>
        </p:txBody>
      </p:sp>
      <p:sp>
        <p:nvSpPr>
          <p:cNvPr id="75" name="Shape 72"/>
          <p:cNvSpPr/>
          <p:nvPr/>
        </p:nvSpPr>
        <p:spPr>
          <a:xfrm>
            <a:off x="2487168" y="235000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76" name="Text 73"/>
          <p:cNvSpPr/>
          <p:nvPr/>
        </p:nvSpPr>
        <p:spPr>
          <a:xfrm>
            <a:off x="2487168" y="235000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800" dirty="0"/>
          </a:p>
        </p:txBody>
      </p:sp>
      <p:sp>
        <p:nvSpPr>
          <p:cNvPr id="77" name="Text 74"/>
          <p:cNvSpPr/>
          <p:nvPr/>
        </p:nvSpPr>
        <p:spPr>
          <a:xfrm>
            <a:off x="3200400" y="235000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SGBD open source, fork de MySQL</a:t>
            </a:r>
            <a:endParaRPr lang="en-US" sz="750" dirty="0"/>
          </a:p>
        </p:txBody>
      </p:sp>
      <p:sp>
        <p:nvSpPr>
          <p:cNvPr id="78" name="Shape 75"/>
          <p:cNvSpPr/>
          <p:nvPr/>
        </p:nvSpPr>
        <p:spPr>
          <a:xfrm>
            <a:off x="2487168" y="259689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79" name="Text 76"/>
          <p:cNvSpPr/>
          <p:nvPr/>
        </p:nvSpPr>
        <p:spPr>
          <a:xfrm>
            <a:off x="2487168" y="259689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</a:t>
            </a:r>
            <a:endParaRPr lang="en-US" sz="800" dirty="0"/>
          </a:p>
        </p:txBody>
      </p:sp>
      <p:sp>
        <p:nvSpPr>
          <p:cNvPr id="80" name="Text 77"/>
          <p:cNvSpPr/>
          <p:nvPr/>
        </p:nvSpPr>
        <p:spPr>
          <a:xfrm>
            <a:off x="3200400" y="259689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Authentication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2487168" y="284378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82" name="Text 79"/>
          <p:cNvSpPr/>
          <p:nvPr/>
        </p:nvSpPr>
        <p:spPr>
          <a:xfrm>
            <a:off x="2487168" y="284378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</a:t>
            </a:r>
            <a:endParaRPr lang="en-US" sz="800" dirty="0"/>
          </a:p>
        </p:txBody>
      </p:sp>
      <p:sp>
        <p:nvSpPr>
          <p:cNvPr id="83" name="Text 80"/>
          <p:cNvSpPr/>
          <p:nvPr/>
        </p:nvSpPr>
        <p:spPr>
          <a:xfrm>
            <a:off x="3200400" y="284378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Detect</a:t>
            </a:r>
            <a:endParaRPr lang="en-US" sz="750" dirty="0"/>
          </a:p>
        </p:txBody>
      </p:sp>
      <p:sp>
        <p:nvSpPr>
          <p:cNvPr id="84" name="Shape 81"/>
          <p:cNvSpPr/>
          <p:nvPr/>
        </p:nvSpPr>
        <p:spPr>
          <a:xfrm>
            <a:off x="2487168" y="309067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85" name="Text 82"/>
          <p:cNvSpPr/>
          <p:nvPr/>
        </p:nvSpPr>
        <p:spPr>
          <a:xfrm>
            <a:off x="2487168" y="309067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>
            <a:off x="3200400" y="309067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Repair</a:t>
            </a:r>
            <a:endParaRPr lang="en-US" sz="750" dirty="0"/>
          </a:p>
        </p:txBody>
      </p:sp>
      <p:sp>
        <p:nvSpPr>
          <p:cNvPr id="87" name="Shape 84"/>
          <p:cNvSpPr/>
          <p:nvPr/>
        </p:nvSpPr>
        <p:spPr>
          <a:xfrm>
            <a:off x="2487168" y="333756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88" name="Text 85"/>
          <p:cNvSpPr/>
          <p:nvPr/>
        </p:nvSpPr>
        <p:spPr>
          <a:xfrm>
            <a:off x="2487168" y="333756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800" dirty="0"/>
          </a:p>
        </p:txBody>
      </p:sp>
      <p:sp>
        <p:nvSpPr>
          <p:cNvPr id="89" name="Text 86"/>
          <p:cNvSpPr/>
          <p:nvPr/>
        </p:nvSpPr>
        <p:spPr>
          <a:xfrm>
            <a:off x="3200400" y="3337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Attached Storage — stockage réseau</a:t>
            </a:r>
            <a:endParaRPr lang="en-US" sz="750" dirty="0"/>
          </a:p>
        </p:txBody>
      </p:sp>
      <p:sp>
        <p:nvSpPr>
          <p:cNvPr id="90" name="Shape 87"/>
          <p:cNvSpPr/>
          <p:nvPr/>
        </p:nvSpPr>
        <p:spPr>
          <a:xfrm>
            <a:off x="2487168" y="358444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91" name="Text 88"/>
          <p:cNvSpPr/>
          <p:nvPr/>
        </p:nvSpPr>
        <p:spPr>
          <a:xfrm>
            <a:off x="2487168" y="358444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</a:t>
            </a:r>
            <a:endParaRPr lang="en-US" sz="800" dirty="0"/>
          </a:p>
        </p:txBody>
      </p:sp>
      <p:sp>
        <p:nvSpPr>
          <p:cNvPr id="92" name="Text 89"/>
          <p:cNvSpPr/>
          <p:nvPr/>
        </p:nvSpPr>
        <p:spPr>
          <a:xfrm>
            <a:off x="3200400" y="358444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File System</a:t>
            </a:r>
            <a:endParaRPr lang="en-US" sz="750" dirty="0"/>
          </a:p>
        </p:txBody>
      </p:sp>
      <p:sp>
        <p:nvSpPr>
          <p:cNvPr id="93" name="Shape 90"/>
          <p:cNvSpPr/>
          <p:nvPr/>
        </p:nvSpPr>
        <p:spPr>
          <a:xfrm>
            <a:off x="2487168" y="383133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94" name="Text 91"/>
          <p:cNvSpPr/>
          <p:nvPr/>
        </p:nvSpPr>
        <p:spPr>
          <a:xfrm>
            <a:off x="2487168" y="383133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</a:t>
            </a:r>
            <a:endParaRPr lang="en-US" sz="800" dirty="0"/>
          </a:p>
        </p:txBody>
      </p:sp>
      <p:sp>
        <p:nvSpPr>
          <p:cNvPr id="95" name="Text 92"/>
          <p:cNvSpPr/>
          <p:nvPr/>
        </p:nvSpPr>
        <p:spPr>
          <a:xfrm>
            <a:off x="3200400" y="383133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Expenditure — coûts récurrents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2487168" y="407822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97" name="Text 94"/>
          <p:cNvSpPr/>
          <p:nvPr/>
        </p:nvSpPr>
        <p:spPr>
          <a:xfrm>
            <a:off x="2487168" y="407822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200400" y="407822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Unit — unité organisationnelle</a:t>
            </a:r>
            <a:endParaRPr lang="en-US" sz="750" dirty="0"/>
          </a:p>
        </p:txBody>
      </p:sp>
      <p:sp>
        <p:nvSpPr>
          <p:cNvPr id="99" name="Shape 96"/>
          <p:cNvSpPr/>
          <p:nvPr/>
        </p:nvSpPr>
        <p:spPr>
          <a:xfrm>
            <a:off x="2487168" y="432511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00" name="Text 97"/>
          <p:cNvSpPr/>
          <p:nvPr/>
        </p:nvSpPr>
        <p:spPr>
          <a:xfrm>
            <a:off x="2487168" y="432511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800" dirty="0"/>
          </a:p>
        </p:txBody>
      </p:sp>
      <p:sp>
        <p:nvSpPr>
          <p:cNvPr id="101" name="Text 98"/>
          <p:cNvSpPr/>
          <p:nvPr/>
        </p:nvSpPr>
        <p:spPr>
          <a:xfrm>
            <a:off x="3200400" y="432511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Continuité des Activités</a:t>
            </a:r>
            <a:endParaRPr lang="en-US" sz="750" dirty="0"/>
          </a:p>
        </p:txBody>
      </p:sp>
      <p:sp>
        <p:nvSpPr>
          <p:cNvPr id="102" name="Shape 99"/>
          <p:cNvSpPr/>
          <p:nvPr/>
        </p:nvSpPr>
        <p:spPr>
          <a:xfrm>
            <a:off x="2487168" y="457200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03" name="Text 100"/>
          <p:cNvSpPr/>
          <p:nvPr/>
        </p:nvSpPr>
        <p:spPr>
          <a:xfrm>
            <a:off x="2487168" y="457200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</a:t>
            </a:r>
            <a:endParaRPr lang="en-US" sz="800" dirty="0"/>
          </a:p>
        </p:txBody>
      </p:sp>
      <p:sp>
        <p:nvSpPr>
          <p:cNvPr id="104" name="Text 101"/>
          <p:cNvSpPr/>
          <p:nvPr/>
        </p:nvSpPr>
        <p:spPr>
          <a:xfrm>
            <a:off x="3200400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open source basé sur FreeBSD</a:t>
            </a:r>
            <a:endParaRPr lang="en-US" sz="750" dirty="0"/>
          </a:p>
        </p:txBody>
      </p:sp>
      <p:sp>
        <p:nvSpPr>
          <p:cNvPr id="105" name="Shape 102"/>
          <p:cNvSpPr/>
          <p:nvPr/>
        </p:nvSpPr>
        <p:spPr>
          <a:xfrm>
            <a:off x="2487168" y="481888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06" name="Text 103"/>
          <p:cNvSpPr/>
          <p:nvPr/>
        </p:nvSpPr>
        <p:spPr>
          <a:xfrm>
            <a:off x="2487168" y="481888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3200400" y="481888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Personally Identifiable Information</a:t>
            </a:r>
            <a:endParaRPr lang="en-US" sz="750" dirty="0"/>
          </a:p>
        </p:txBody>
      </p:sp>
      <p:sp>
        <p:nvSpPr>
          <p:cNvPr id="108" name="Shape 105"/>
          <p:cNvSpPr/>
          <p:nvPr/>
        </p:nvSpPr>
        <p:spPr>
          <a:xfrm>
            <a:off x="4700016" y="86868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09" name="Text 106"/>
          <p:cNvSpPr/>
          <p:nvPr/>
        </p:nvSpPr>
        <p:spPr>
          <a:xfrm>
            <a:off x="4700016" y="86868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5413248" y="8686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Key Infrastructure</a:t>
            </a:r>
            <a:endParaRPr lang="en-US" sz="750" dirty="0"/>
          </a:p>
        </p:txBody>
      </p:sp>
      <p:sp>
        <p:nvSpPr>
          <p:cNvPr id="111" name="Shape 108"/>
          <p:cNvSpPr/>
          <p:nvPr/>
        </p:nvSpPr>
        <p:spPr>
          <a:xfrm>
            <a:off x="4700016" y="111556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12" name="Text 109"/>
          <p:cNvSpPr/>
          <p:nvPr/>
        </p:nvSpPr>
        <p:spPr>
          <a:xfrm>
            <a:off x="4700016" y="11155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PoLP</a:t>
            </a:r>
            <a:endParaRPr lang="en-US" sz="800" dirty="0"/>
          </a:p>
        </p:txBody>
      </p:sp>
      <p:sp>
        <p:nvSpPr>
          <p:cNvPr id="113" name="Text 110"/>
          <p:cNvSpPr/>
          <p:nvPr/>
        </p:nvSpPr>
        <p:spPr>
          <a:xfrm>
            <a:off x="5413248" y="111556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 of Least Privilege</a:t>
            </a:r>
            <a:endParaRPr lang="en-US" sz="750" dirty="0"/>
          </a:p>
        </p:txBody>
      </p:sp>
      <p:sp>
        <p:nvSpPr>
          <p:cNvPr id="114" name="Shape 111"/>
          <p:cNvSpPr/>
          <p:nvPr/>
        </p:nvSpPr>
        <p:spPr>
          <a:xfrm>
            <a:off x="4700016" y="136245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15" name="Text 112"/>
          <p:cNvSpPr/>
          <p:nvPr/>
        </p:nvSpPr>
        <p:spPr>
          <a:xfrm>
            <a:off x="4700016" y="136245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</a:t>
            </a:r>
            <a:endParaRPr lang="en-US" sz="800" dirty="0"/>
          </a:p>
        </p:txBody>
      </p:sp>
      <p:sp>
        <p:nvSpPr>
          <p:cNvPr id="116" name="Text 113"/>
          <p:cNvSpPr/>
          <p:nvPr/>
        </p:nvSpPr>
        <p:spPr>
          <a:xfrm>
            <a:off x="5413248" y="136245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Reprise d'Activité</a:t>
            </a:r>
            <a:endParaRPr lang="en-US" sz="750" dirty="0"/>
          </a:p>
        </p:txBody>
      </p:sp>
      <p:sp>
        <p:nvSpPr>
          <p:cNvPr id="117" name="Shape 114"/>
          <p:cNvSpPr/>
          <p:nvPr/>
        </p:nvSpPr>
        <p:spPr>
          <a:xfrm>
            <a:off x="4700016" y="160934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18" name="Text 115"/>
          <p:cNvSpPr/>
          <p:nvPr/>
        </p:nvSpPr>
        <p:spPr>
          <a:xfrm>
            <a:off x="4700016" y="16093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5413248" y="160934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Hyperviseur open source (KVM+LXC)</a:t>
            </a:r>
            <a:endParaRPr lang="en-US" sz="750" dirty="0"/>
          </a:p>
        </p:txBody>
      </p:sp>
      <p:sp>
        <p:nvSpPr>
          <p:cNvPr id="120" name="Shape 117"/>
          <p:cNvSpPr/>
          <p:nvPr/>
        </p:nvSpPr>
        <p:spPr>
          <a:xfrm>
            <a:off x="4700016" y="185623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21" name="Text 118"/>
          <p:cNvSpPr/>
          <p:nvPr/>
        </p:nvSpPr>
        <p:spPr>
          <a:xfrm>
            <a:off x="4700016" y="18562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5413248" y="185623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Array of Independent Disks</a:t>
            </a:r>
            <a:endParaRPr lang="en-US" sz="750" dirty="0"/>
          </a:p>
        </p:txBody>
      </p:sp>
      <p:sp>
        <p:nvSpPr>
          <p:cNvPr id="123" name="Shape 120"/>
          <p:cNvSpPr/>
          <p:nvPr/>
        </p:nvSpPr>
        <p:spPr>
          <a:xfrm>
            <a:off x="4700016" y="210312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24" name="Text 121"/>
          <p:cNvSpPr/>
          <p:nvPr/>
        </p:nvSpPr>
        <p:spPr>
          <a:xfrm>
            <a:off x="4700016" y="210312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5413248" y="210312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750" dirty="0"/>
          </a:p>
        </p:txBody>
      </p:sp>
      <p:sp>
        <p:nvSpPr>
          <p:cNvPr id="126" name="Shape 123"/>
          <p:cNvSpPr/>
          <p:nvPr/>
        </p:nvSpPr>
        <p:spPr>
          <a:xfrm>
            <a:off x="4700016" y="235000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27" name="Text 124"/>
          <p:cNvSpPr/>
          <p:nvPr/>
        </p:nvSpPr>
        <p:spPr>
          <a:xfrm>
            <a:off x="4700016" y="235000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</a:t>
            </a:r>
            <a:endParaRPr lang="en-US" sz="800" dirty="0"/>
          </a:p>
        </p:txBody>
      </p:sp>
      <p:sp>
        <p:nvSpPr>
          <p:cNvPr id="128" name="Text 125"/>
          <p:cNvSpPr/>
          <p:nvPr/>
        </p:nvSpPr>
        <p:spPr>
          <a:xfrm>
            <a:off x="5413248" y="235000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 Emploi Activités Compétences</a:t>
            </a:r>
            <a:endParaRPr lang="en-US" sz="750" dirty="0"/>
          </a:p>
        </p:txBody>
      </p:sp>
      <p:sp>
        <p:nvSpPr>
          <p:cNvPr id="129" name="Shape 126"/>
          <p:cNvSpPr/>
          <p:nvPr/>
        </p:nvSpPr>
        <p:spPr>
          <a:xfrm>
            <a:off x="4700016" y="259689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30" name="Text 127"/>
          <p:cNvSpPr/>
          <p:nvPr/>
        </p:nvSpPr>
        <p:spPr>
          <a:xfrm>
            <a:off x="4700016" y="259689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5413248" y="259689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 Général sur la Protection des Données</a:t>
            </a:r>
            <a:endParaRPr lang="en-US" sz="750" dirty="0"/>
          </a:p>
        </p:txBody>
      </p:sp>
      <p:sp>
        <p:nvSpPr>
          <p:cNvPr id="132" name="Shape 129"/>
          <p:cNvSpPr/>
          <p:nvPr/>
        </p:nvSpPr>
        <p:spPr>
          <a:xfrm>
            <a:off x="4700016" y="284378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33" name="Text 130"/>
          <p:cNvSpPr/>
          <p:nvPr/>
        </p:nvSpPr>
        <p:spPr>
          <a:xfrm>
            <a:off x="4700016" y="284378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RODC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5413248" y="284378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Domain Controller</a:t>
            </a:r>
            <a:endParaRPr lang="en-US" sz="750" dirty="0"/>
          </a:p>
        </p:txBody>
      </p:sp>
      <p:sp>
        <p:nvSpPr>
          <p:cNvPr id="135" name="Shape 132"/>
          <p:cNvSpPr/>
          <p:nvPr/>
        </p:nvSpPr>
        <p:spPr>
          <a:xfrm>
            <a:off x="4700016" y="309067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36" name="Text 133"/>
          <p:cNvSpPr/>
          <p:nvPr/>
        </p:nvSpPr>
        <p:spPr>
          <a:xfrm>
            <a:off x="4700016" y="309067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5413248" y="309067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Point Objective — perte max données</a:t>
            </a:r>
            <a:endParaRPr lang="en-US" sz="750" dirty="0"/>
          </a:p>
        </p:txBody>
      </p:sp>
      <p:sp>
        <p:nvSpPr>
          <p:cNvPr id="138" name="Shape 135"/>
          <p:cNvSpPr/>
          <p:nvPr/>
        </p:nvSpPr>
        <p:spPr>
          <a:xfrm>
            <a:off x="4700016" y="333756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39" name="Text 136"/>
          <p:cNvSpPr/>
          <p:nvPr/>
        </p:nvSpPr>
        <p:spPr>
          <a:xfrm>
            <a:off x="4700016" y="333756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5413248" y="3337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Objective — temps max reprise</a:t>
            </a:r>
            <a:endParaRPr lang="en-US" sz="750" dirty="0"/>
          </a:p>
        </p:txBody>
      </p:sp>
      <p:sp>
        <p:nvSpPr>
          <p:cNvPr id="141" name="Shape 138"/>
          <p:cNvSpPr/>
          <p:nvPr/>
        </p:nvSpPr>
        <p:spPr>
          <a:xfrm>
            <a:off x="4700016" y="358444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42" name="Text 139"/>
          <p:cNvSpPr/>
          <p:nvPr/>
        </p:nvSpPr>
        <p:spPr>
          <a:xfrm>
            <a:off x="4700016" y="358444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Samba4</a:t>
            </a:r>
            <a:endParaRPr lang="en-US" sz="800" dirty="0"/>
          </a:p>
        </p:txBody>
      </p:sp>
      <p:sp>
        <p:nvSpPr>
          <p:cNvPr id="143" name="Text 140"/>
          <p:cNvSpPr/>
          <p:nvPr/>
        </p:nvSpPr>
        <p:spPr>
          <a:xfrm>
            <a:off x="5413248" y="358444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open source compatible AD Microsoft</a:t>
            </a:r>
            <a:endParaRPr lang="en-US" sz="750" dirty="0"/>
          </a:p>
        </p:txBody>
      </p:sp>
      <p:sp>
        <p:nvSpPr>
          <p:cNvPr id="144" name="Shape 141"/>
          <p:cNvSpPr/>
          <p:nvPr/>
        </p:nvSpPr>
        <p:spPr>
          <a:xfrm>
            <a:off x="4700016" y="383133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45" name="Text 142"/>
          <p:cNvSpPr/>
          <p:nvPr/>
        </p:nvSpPr>
        <p:spPr>
          <a:xfrm>
            <a:off x="4700016" y="383133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5413248" y="383133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Area Network</a:t>
            </a:r>
            <a:endParaRPr lang="en-US" sz="750" dirty="0"/>
          </a:p>
        </p:txBody>
      </p:sp>
      <p:sp>
        <p:nvSpPr>
          <p:cNvPr id="147" name="Shape 144"/>
          <p:cNvSpPr/>
          <p:nvPr/>
        </p:nvSpPr>
        <p:spPr>
          <a:xfrm>
            <a:off x="4700016" y="407822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48" name="Text 145"/>
          <p:cNvSpPr/>
          <p:nvPr/>
        </p:nvSpPr>
        <p:spPr>
          <a:xfrm>
            <a:off x="4700016" y="407822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5413248" y="407822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Content Automation Protocol</a:t>
            </a:r>
            <a:endParaRPr lang="en-US" sz="750" dirty="0"/>
          </a:p>
        </p:txBody>
      </p:sp>
      <p:sp>
        <p:nvSpPr>
          <p:cNvPr id="150" name="Shape 147"/>
          <p:cNvSpPr/>
          <p:nvPr/>
        </p:nvSpPr>
        <p:spPr>
          <a:xfrm>
            <a:off x="4700016" y="432511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51" name="Text 148"/>
          <p:cNvSpPr/>
          <p:nvPr/>
        </p:nvSpPr>
        <p:spPr>
          <a:xfrm>
            <a:off x="4700016" y="432511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SGBD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5413248" y="432511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Gestion de Base de Données</a:t>
            </a:r>
            <a:endParaRPr lang="en-US" sz="750" dirty="0"/>
          </a:p>
        </p:txBody>
      </p:sp>
      <p:sp>
        <p:nvSpPr>
          <p:cNvPr id="153" name="Shape 150"/>
          <p:cNvSpPr/>
          <p:nvPr/>
        </p:nvSpPr>
        <p:spPr>
          <a:xfrm>
            <a:off x="4700016" y="457200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54" name="Text 151"/>
          <p:cNvSpPr/>
          <p:nvPr/>
        </p:nvSpPr>
        <p:spPr>
          <a:xfrm>
            <a:off x="4700016" y="457200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endParaRPr lang="en-US" sz="800" dirty="0"/>
          </a:p>
        </p:txBody>
      </p:sp>
      <p:sp>
        <p:nvSpPr>
          <p:cNvPr id="155" name="Text 152"/>
          <p:cNvSpPr/>
          <p:nvPr/>
        </p:nvSpPr>
        <p:spPr>
          <a:xfrm>
            <a:off x="5413248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d'Information</a:t>
            </a:r>
            <a:endParaRPr lang="en-US" sz="750" dirty="0"/>
          </a:p>
        </p:txBody>
      </p:sp>
      <p:sp>
        <p:nvSpPr>
          <p:cNvPr id="156" name="Shape 153"/>
          <p:cNvSpPr/>
          <p:nvPr/>
        </p:nvSpPr>
        <p:spPr>
          <a:xfrm>
            <a:off x="4700016" y="481888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57" name="Text 154"/>
          <p:cNvSpPr/>
          <p:nvPr/>
        </p:nvSpPr>
        <p:spPr>
          <a:xfrm>
            <a:off x="4700016" y="481888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5413248" y="481888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Information &amp; Event Management</a:t>
            </a:r>
            <a:endParaRPr lang="en-US" sz="750" dirty="0"/>
          </a:p>
        </p:txBody>
      </p:sp>
      <p:sp>
        <p:nvSpPr>
          <p:cNvPr id="159" name="Shape 156"/>
          <p:cNvSpPr/>
          <p:nvPr/>
        </p:nvSpPr>
        <p:spPr>
          <a:xfrm>
            <a:off x="6912864" y="86868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60" name="Text 157"/>
          <p:cNvSpPr/>
          <p:nvPr/>
        </p:nvSpPr>
        <p:spPr>
          <a:xfrm>
            <a:off x="6912864" y="86868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26096" y="8686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Agreement — engagement service</a:t>
            </a:r>
            <a:endParaRPr lang="en-US" sz="750" dirty="0"/>
          </a:p>
        </p:txBody>
      </p:sp>
      <p:sp>
        <p:nvSpPr>
          <p:cNvPr id="162" name="Shape 159"/>
          <p:cNvSpPr/>
          <p:nvPr/>
        </p:nvSpPr>
        <p:spPr>
          <a:xfrm>
            <a:off x="6912864" y="111556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63" name="Text 160"/>
          <p:cNvSpPr/>
          <p:nvPr/>
        </p:nvSpPr>
        <p:spPr>
          <a:xfrm>
            <a:off x="6912864" y="11155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7626096" y="111556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Message Block — partage fichiers Windows</a:t>
            </a:r>
            <a:endParaRPr lang="en-US" sz="750" dirty="0"/>
          </a:p>
        </p:txBody>
      </p:sp>
      <p:sp>
        <p:nvSpPr>
          <p:cNvPr id="165" name="Shape 162"/>
          <p:cNvSpPr/>
          <p:nvPr/>
        </p:nvSpPr>
        <p:spPr>
          <a:xfrm>
            <a:off x="6912864" y="136245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66" name="Text 163"/>
          <p:cNvSpPr/>
          <p:nvPr/>
        </p:nvSpPr>
        <p:spPr>
          <a:xfrm>
            <a:off x="6912864" y="136245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7626096" y="136245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Shell — accès distant chiffré</a:t>
            </a:r>
            <a:endParaRPr lang="en-US" sz="750" dirty="0"/>
          </a:p>
        </p:txBody>
      </p:sp>
      <p:sp>
        <p:nvSpPr>
          <p:cNvPr id="168" name="Shape 165"/>
          <p:cNvSpPr/>
          <p:nvPr/>
        </p:nvSpPr>
        <p:spPr>
          <a:xfrm>
            <a:off x="6912864" y="160934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69" name="Text 166"/>
          <p:cNvSpPr/>
          <p:nvPr/>
        </p:nvSpPr>
        <p:spPr>
          <a:xfrm>
            <a:off x="6912864" y="16093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7626096" y="160934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— authentification unique</a:t>
            </a:r>
            <a:endParaRPr lang="en-US" sz="750" dirty="0"/>
          </a:p>
        </p:txBody>
      </p:sp>
      <p:sp>
        <p:nvSpPr>
          <p:cNvPr id="171" name="Shape 168"/>
          <p:cNvSpPr/>
          <p:nvPr/>
        </p:nvSpPr>
        <p:spPr>
          <a:xfrm>
            <a:off x="6912864" y="185623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72" name="Text 169"/>
          <p:cNvSpPr/>
          <p:nvPr/>
        </p:nvSpPr>
        <p:spPr>
          <a:xfrm>
            <a:off x="6912864" y="18562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626096" y="185623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 — coût total</a:t>
            </a:r>
            <a:endParaRPr lang="en-US" sz="750" dirty="0"/>
          </a:p>
        </p:txBody>
      </p:sp>
      <p:sp>
        <p:nvSpPr>
          <p:cNvPr id="174" name="Shape 171"/>
          <p:cNvSpPr/>
          <p:nvPr/>
        </p:nvSpPr>
        <p:spPr>
          <a:xfrm>
            <a:off x="6912864" y="210312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75" name="Text 172"/>
          <p:cNvSpPr/>
          <p:nvPr/>
        </p:nvSpPr>
        <p:spPr>
          <a:xfrm>
            <a:off x="6912864" y="210312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7626096" y="210312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Layer Security</a:t>
            </a:r>
            <a:endParaRPr lang="en-US" sz="750" dirty="0"/>
          </a:p>
        </p:txBody>
      </p:sp>
      <p:sp>
        <p:nvSpPr>
          <p:cNvPr id="177" name="Shape 174"/>
          <p:cNvSpPr/>
          <p:nvPr/>
        </p:nvSpPr>
        <p:spPr>
          <a:xfrm>
            <a:off x="6912864" y="235000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78" name="Text 175"/>
          <p:cNvSpPr/>
          <p:nvPr/>
        </p:nvSpPr>
        <p:spPr>
          <a:xfrm>
            <a:off x="6912864" y="235000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7626096" y="235000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 One-Time Password (code 6 chiffres)</a:t>
            </a:r>
            <a:endParaRPr lang="en-US" sz="750" dirty="0"/>
          </a:p>
        </p:txBody>
      </p:sp>
      <p:sp>
        <p:nvSpPr>
          <p:cNvPr id="180" name="Shape 177"/>
          <p:cNvSpPr/>
          <p:nvPr/>
        </p:nvSpPr>
        <p:spPr>
          <a:xfrm>
            <a:off x="6912864" y="259689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81" name="Text 178"/>
          <p:cNvSpPr/>
          <p:nvPr/>
        </p:nvSpPr>
        <p:spPr>
          <a:xfrm>
            <a:off x="6912864" y="259689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</a:t>
            </a:r>
            <a:endParaRPr lang="en-US" sz="800" dirty="0"/>
          </a:p>
        </p:txBody>
      </p:sp>
      <p:sp>
        <p:nvSpPr>
          <p:cNvPr id="182" name="Text 179"/>
          <p:cNvSpPr/>
          <p:nvPr/>
        </p:nvSpPr>
        <p:spPr>
          <a:xfrm>
            <a:off x="7626096" y="259689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Platform Module — puce sécurité matérielle</a:t>
            </a:r>
            <a:endParaRPr lang="en-US" sz="750" dirty="0"/>
          </a:p>
        </p:txBody>
      </p:sp>
      <p:sp>
        <p:nvSpPr>
          <p:cNvPr id="183" name="Shape 180"/>
          <p:cNvSpPr/>
          <p:nvPr/>
        </p:nvSpPr>
        <p:spPr>
          <a:xfrm>
            <a:off x="6912864" y="284378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84" name="Text 181"/>
          <p:cNvSpPr/>
          <p:nvPr/>
        </p:nvSpPr>
        <p:spPr>
          <a:xfrm>
            <a:off x="6912864" y="284378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7626096" y="284378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LAN — réseau virtuel isolé</a:t>
            </a:r>
            <a:endParaRPr lang="en-US" sz="750" dirty="0"/>
          </a:p>
        </p:txBody>
      </p:sp>
      <p:sp>
        <p:nvSpPr>
          <p:cNvPr id="186" name="Shape 183"/>
          <p:cNvSpPr/>
          <p:nvPr/>
        </p:nvSpPr>
        <p:spPr>
          <a:xfrm>
            <a:off x="6912864" y="3090672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87" name="Text 184"/>
          <p:cNvSpPr/>
          <p:nvPr/>
        </p:nvSpPr>
        <p:spPr>
          <a:xfrm>
            <a:off x="6912864" y="309067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7626096" y="3090672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 — machine virtuelle</a:t>
            </a:r>
            <a:endParaRPr lang="en-US" sz="750" dirty="0"/>
          </a:p>
        </p:txBody>
      </p:sp>
      <p:sp>
        <p:nvSpPr>
          <p:cNvPr id="189" name="Shape 186"/>
          <p:cNvSpPr/>
          <p:nvPr/>
        </p:nvSpPr>
        <p:spPr>
          <a:xfrm>
            <a:off x="6912864" y="3337560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90" name="Text 187"/>
          <p:cNvSpPr/>
          <p:nvPr/>
        </p:nvSpPr>
        <p:spPr>
          <a:xfrm>
            <a:off x="6912864" y="3337560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7626096" y="3337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Private Network — tunnel chiffré</a:t>
            </a:r>
            <a:endParaRPr lang="en-US" sz="750" dirty="0"/>
          </a:p>
        </p:txBody>
      </p:sp>
      <p:sp>
        <p:nvSpPr>
          <p:cNvPr id="192" name="Shape 189"/>
          <p:cNvSpPr/>
          <p:nvPr/>
        </p:nvSpPr>
        <p:spPr>
          <a:xfrm>
            <a:off x="6912864" y="3584448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93" name="Text 190"/>
          <p:cNvSpPr/>
          <p:nvPr/>
        </p:nvSpPr>
        <p:spPr>
          <a:xfrm>
            <a:off x="6912864" y="358444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</a:t>
            </a:r>
            <a:endParaRPr lang="en-US" sz="800" dirty="0"/>
          </a:p>
        </p:txBody>
      </p:sp>
      <p:sp>
        <p:nvSpPr>
          <p:cNvPr id="194" name="Text 191"/>
          <p:cNvSpPr/>
          <p:nvPr/>
        </p:nvSpPr>
        <p:spPr>
          <a:xfrm>
            <a:off x="7626096" y="3584448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open source EDR + SIEM</a:t>
            </a:r>
            <a:endParaRPr lang="en-US" sz="750" dirty="0"/>
          </a:p>
        </p:txBody>
      </p:sp>
      <p:sp>
        <p:nvSpPr>
          <p:cNvPr id="195" name="Shape 192"/>
          <p:cNvSpPr/>
          <p:nvPr/>
        </p:nvSpPr>
        <p:spPr>
          <a:xfrm>
            <a:off x="6912864" y="3831336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96" name="Text 193"/>
          <p:cNvSpPr/>
          <p:nvPr/>
        </p:nvSpPr>
        <p:spPr>
          <a:xfrm>
            <a:off x="6912864" y="3831336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00" dirty="0"/>
          </a:p>
        </p:txBody>
      </p:sp>
      <p:sp>
        <p:nvSpPr>
          <p:cNvPr id="197" name="Text 194"/>
          <p:cNvSpPr/>
          <p:nvPr/>
        </p:nvSpPr>
        <p:spPr>
          <a:xfrm>
            <a:off x="7626096" y="3831336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 Read Many — stockage immuable</a:t>
            </a:r>
            <a:endParaRPr lang="en-US" sz="750" dirty="0"/>
          </a:p>
        </p:txBody>
      </p:sp>
      <p:sp>
        <p:nvSpPr>
          <p:cNvPr id="198" name="Shape 195"/>
          <p:cNvSpPr/>
          <p:nvPr/>
        </p:nvSpPr>
        <p:spPr>
          <a:xfrm>
            <a:off x="6912864" y="4078224"/>
            <a:ext cx="658368" cy="219456"/>
          </a:xfrm>
          <a:prstGeom prst="rect">
            <a:avLst/>
          </a:prstGeom>
          <a:solidFill>
            <a:srgbClr val="3BD4AE">
              <a:alpha val="22000"/>
            </a:srgbClr>
          </a:solidFill>
          <a:ln/>
        </p:spPr>
      </p:sp>
      <p:sp>
        <p:nvSpPr>
          <p:cNvPr id="199" name="Text 196"/>
          <p:cNvSpPr/>
          <p:nvPr/>
        </p:nvSpPr>
        <p:spPr>
          <a:xfrm>
            <a:off x="6912864" y="407822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YubiKey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26096" y="4078224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physique USB/NFC d'authentification FIDO2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Sommaire du Dossier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" y="777240"/>
            <a:ext cx="2743200" cy="384048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" y="7772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— Analyse &amp; Conception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11480" y="1389888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2618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Besoins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1480" y="1773936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64592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(Proxmox, VLANs, 4 piliers)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1480" y="2157984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202996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 (OU, GPO)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1480" y="2542032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24140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 (MFA, Chiffrement)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79806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CAPEX/OPEX 3 scénarios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00400" y="777240"/>
            <a:ext cx="2743200" cy="38404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3200400" y="7772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— Implémentation Technique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337560" y="1389888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12618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Samba4 AD (choix, RBAC, PoLP)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337560" y="1773936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11880" y="164592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fichiers (ACL, quotas)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37560" y="2157984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11880" y="202996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(réplication, sécurité)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337560" y="2542032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611880" y="24140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(VMs, HA, snapshots)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126480" y="777240"/>
            <a:ext cx="2743200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5"/>
          <p:cNvSpPr/>
          <p:nvPr/>
        </p:nvSpPr>
        <p:spPr>
          <a:xfrm>
            <a:off x="6126480" y="7772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 — Amélioration &amp; PCA/PRA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263640" y="1389888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37960" y="12618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(Wazuh + Prometheus)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63640" y="1773936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37960" y="164592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(4 scripts)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63640" y="2157984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537960" y="202996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Continuité d'activité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263640" y="2542032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537960" y="24140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— Reprise d'activité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263640" y="2926080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37960" y="279806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des risques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74320" y="3611880"/>
            <a:ext cx="8595360" cy="384048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40" name="Text 37"/>
          <p:cNvSpPr/>
          <p:nvPr/>
        </p:nvSpPr>
        <p:spPr>
          <a:xfrm>
            <a:off x="365760" y="361188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:  Conformité REAC AIS  ·  Bilan SLA &amp; RTO  ·  Recommandation finale  ·  Prochaines étapes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74320" y="41605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~48 slides · 45 min de présentation · Chaque slide avec un « À retenir »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57200" y="18288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 des Besoins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Conception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contexte, identifier les risques, concevoir l'architecture cible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A8F0E6">
              <a:alpha val="6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286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" y="914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Nova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Syndicate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274320" y="1920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High-Tech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Médical · Aérospatial · Défense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274320" y="28346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41732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34747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417320" y="3520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(Lyon+MRS+nomades)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74320" y="41148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1417320" y="41605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requise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474720" y="274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Situation actuelle — Pourquoi agir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83280" y="731520"/>
            <a:ext cx="5486400" cy="822960"/>
          </a:xfrm>
          <a:prstGeom prst="rect">
            <a:avLst/>
          </a:prstGeom>
          <a:solidFill>
            <a:srgbClr val="EF4444">
              <a:alpha val="8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3383280" y="731520"/>
            <a:ext cx="54864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2"/>
          <p:cNvSpPr/>
          <p:nvPr/>
        </p:nvSpPr>
        <p:spPr>
          <a:xfrm>
            <a:off x="3566160" y="731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Active Directory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107899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gérés manuellement → erreurs, zéro traçabilité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83280" y="1691640"/>
            <a:ext cx="5486400" cy="822960"/>
          </a:xfrm>
          <a:prstGeom prst="rect">
            <a:avLst/>
          </a:prstGeom>
          <a:solidFill>
            <a:srgbClr val="EF4444">
              <a:alpha val="8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3383280" y="1691640"/>
            <a:ext cx="54864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6"/>
          <p:cNvSpPr/>
          <p:nvPr/>
        </p:nvSpPr>
        <p:spPr>
          <a:xfrm>
            <a:off x="3566160" y="1691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plat non segmenté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566160" y="203911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malware atteint TOUS les serveurs → propagation latérale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383280" y="2651760"/>
            <a:ext cx="5486400" cy="822960"/>
          </a:xfrm>
          <a:prstGeom prst="rect">
            <a:avLst/>
          </a:prstGeom>
          <a:solidFill>
            <a:srgbClr val="EF4444">
              <a:alpha val="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3383280" y="2651760"/>
            <a:ext cx="54864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0"/>
          <p:cNvSpPr/>
          <p:nvPr/>
        </p:nvSpPr>
        <p:spPr>
          <a:xfrm>
            <a:off x="3566160" y="2651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MFA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566160" y="299923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volé = accès total → usurpation critique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383280" y="3611880"/>
            <a:ext cx="5486400" cy="822960"/>
          </a:xfrm>
          <a:prstGeom prst="rect">
            <a:avLst/>
          </a:prstGeom>
          <a:solidFill>
            <a:srgbClr val="EF4444">
              <a:alpha val="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3383280" y="3611880"/>
            <a:ext cx="54864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356616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non vérifiés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566160" y="395935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garantie de restauration en cas de ransomware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31" name="Text 28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4 failles majeures exposent les données sensibles défense/aéro — agir est urgent.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Priorisation MoSCoW des Besoins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320040" y="658368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= Must / Should / Could / Won't — méthode de priorisation agile des exigences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60120"/>
            <a:ext cx="2029968" cy="34747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960120"/>
            <a:ext cx="2029968" cy="5303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960120"/>
            <a:ext cx="20299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4320" y="1234440"/>
            <a:ext cx="2029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Indispensable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84048" y="1737360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" y="16002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centralisé Samba4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4048" y="2267712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213055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VLAN + pfSense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84048" y="2798064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26609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tous accès critiques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84048" y="3328416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319125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3-2-1-1-0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4048" y="3858768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372160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IPsec nomades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487168" y="960120"/>
            <a:ext cx="2029968" cy="34747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487168" y="960120"/>
            <a:ext cx="2029968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2487168" y="960120"/>
            <a:ext cx="20299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HAVE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487168" y="1234440"/>
            <a:ext cx="2029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recommandé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596896" y="1737360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834640" y="16002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EDR/SIEM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596896" y="2267712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834640" y="213055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LUKS+BitLocker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2596896" y="2798064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34640" y="26609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Prometheus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596896" y="3328416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34640" y="319125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forensique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700016" y="960120"/>
            <a:ext cx="2029968" cy="34747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00016" y="960120"/>
            <a:ext cx="2029968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Text 31"/>
          <p:cNvSpPr/>
          <p:nvPr/>
        </p:nvSpPr>
        <p:spPr>
          <a:xfrm>
            <a:off x="4700016" y="960120"/>
            <a:ext cx="20299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HAVE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700016" y="1234440"/>
            <a:ext cx="2029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appréciable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809744" y="1737360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47488" y="16002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automation Python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809744" y="2267712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047488" y="213055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 interne pfSense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4809744" y="2798064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47488" y="26609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PCA/PRA documenté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809744" y="3328416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047488" y="319125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OpenSCAP compliance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912864" y="960120"/>
            <a:ext cx="2029968" cy="34747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6912864" y="960120"/>
            <a:ext cx="2029968" cy="53035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6" name="Text 43"/>
          <p:cNvSpPr/>
          <p:nvPr/>
        </p:nvSpPr>
        <p:spPr>
          <a:xfrm>
            <a:off x="6912864" y="960120"/>
            <a:ext cx="20299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HAVE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6912864" y="1234440"/>
            <a:ext cx="2029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7022592" y="1737360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260336" y="16002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Splunk commercial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7022592" y="2267712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260336" y="213055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externalisé 24/7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7022592" y="2798064"/>
            <a:ext cx="164592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260336" y="26609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Redondance triplex HW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6" name="Text 53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Notre périmètre couvre TOUS les Must Have et Should Have — score ANSSI visé : 90%.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Conformité au Cahier des Charges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besoin métier est couvert par une solution technique justifiée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5661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Métier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Retenue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identités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Samba4 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SSO, audit logs, RBAC complet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Partage fichiers sécurisé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3.1.1 + DFS-R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 AES-256, réplication &lt; 5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haute dispo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MariaDB Primary/Replica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RPO=0 sync, RTO failover &lt; 10s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nomades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OpenVPN + MFA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Tunnel chiffré + certificat + TOTP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VLANs + pfSense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logique, Deny-by-Default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Sauvegarde résiliente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Veeam 3-2-1-1-0 + WORM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copies, 2 médias, 1 distant immuable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proactif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Wazuh + Prometheus + Grafana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Alertes &lt; 5 min, MTTD ↓ 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Proxmox VE KVM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Gratuit, HA, live migration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provisioning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Ansible + Python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reproductible, MTTR ↓ 90%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Reprise sinistre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PCA/PRA Marseille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Basculement auto &lt; 30s, restore &lt; 4h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9" name="Text 5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10/10 besoins cahier des charges couverts par des solutions open source éprouvées.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14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VE, VLANs pfSense, 4 piliers fondamentaux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 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67328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685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rôle de l'hyperviseur Proxmox et des 6 VMs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867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Visualiser la segmentation réseau en 6 VLANs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370832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2885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4 piliers : sécurité, disponibilité, évolutivité, maintenabilité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4 Piliers de l'Infrastructure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14400" y="65836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décision technique est guidée par ces 4 critères fondamentaux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0" cy="548640"/>
          </a:xfrm>
          <a:prstGeom prst="oval">
            <a:avLst/>
          </a:prstGeom>
          <a:solidFill>
            <a:srgbClr val="EF4444">
              <a:alpha val="85000"/>
            </a:srgb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960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188720" y="12710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+ YubiKey FIDO2 · pfSense Deny-by-Default · Wazuh EDR · Chiffrement AES-256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EF4444">
              <a:alpha val="12000"/>
            </a:srgbClr>
          </a:solidFill>
          <a:ln/>
        </p:spPr>
      </p:sp>
      <p:sp>
        <p:nvSpPr>
          <p:cNvPr id="11" name="Text 7"/>
          <p:cNvSpPr/>
          <p:nvPr/>
        </p:nvSpPr>
        <p:spPr>
          <a:xfrm>
            <a:off x="6492240" y="1051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Protéger les données sensibles défense/aéro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1188720" y="1783080"/>
            <a:ext cx="7498080" cy="0"/>
          </a:xfrm>
          <a:prstGeom prst="line">
            <a:avLst/>
          </a:prstGeom>
          <a:noFill/>
          <a:ln w="6350">
            <a:solidFill>
              <a:srgbClr val="EDF2F7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7200" y="1920240"/>
            <a:ext cx="548640" cy="548640"/>
          </a:xfrm>
          <a:prstGeom prst="oval">
            <a:avLst/>
          </a:prstGeom>
          <a:solidFill>
            <a:srgbClr val="3B82F6">
              <a:alpha val="85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Disponibilité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188720" y="21854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HA · DC01+DC02 réplication · RTO &lt; 4h · VPN site-to-site redondant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0" y="1965960"/>
            <a:ext cx="2468880" cy="457200"/>
          </a:xfrm>
          <a:prstGeom prst="rect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18" name="Text 13"/>
          <p:cNvSpPr/>
          <p:nvPr/>
        </p:nvSpPr>
        <p:spPr>
          <a:xfrm>
            <a:off x="6492240" y="1965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Garantir la continuité 24/7 de la logistique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1188720" y="2697480"/>
            <a:ext cx="7498080" cy="0"/>
          </a:xfrm>
          <a:prstGeom prst="line">
            <a:avLst/>
          </a:prstGeom>
          <a:noFill/>
          <a:ln w="6350">
            <a:solidFill>
              <a:srgbClr val="EDF2F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57200" y="2834640"/>
            <a:ext cx="548640" cy="548640"/>
          </a:xfrm>
          <a:prstGeom prst="oval">
            <a:avLst/>
          </a:prstGeom>
          <a:solidFill>
            <a:srgbClr val="10B981">
              <a:alpha val="85000"/>
            </a:srgbClr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2608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2788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Évolutivité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1188720" y="30998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Virtualisation KVM modulaire · VLANs extensibles · API Proxmox · VM réserve expansion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0" y="2880360"/>
            <a:ext cx="2468880" cy="457200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5" name="Text 19"/>
          <p:cNvSpPr/>
          <p:nvPr/>
        </p:nvSpPr>
        <p:spPr>
          <a:xfrm>
            <a:off x="6492240" y="2880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Accompagner la croissance sans tout reconstruire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1188720" y="3611880"/>
            <a:ext cx="7498080" cy="0"/>
          </a:xfrm>
          <a:prstGeom prst="line">
            <a:avLst/>
          </a:prstGeom>
          <a:noFill/>
          <a:ln w="6350">
            <a:solidFill>
              <a:srgbClr val="EDF2F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7200" y="3749040"/>
            <a:ext cx="548640" cy="548640"/>
          </a:xfrm>
          <a:prstGeom prst="oval">
            <a:avLst/>
          </a:prstGeom>
          <a:solidFill>
            <a:srgbClr val="F59E0B">
              <a:alpha val="85000"/>
            </a:srgbClr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4048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88720" y="3703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Maintenabilité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1188720" y="40142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IaC · GLPI ticketing ITIL 4 · Documentation standardisée · OpenSCAP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400800" y="3794760"/>
            <a:ext cx="2468880" cy="45720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32" name="Text 25"/>
          <p:cNvSpPr/>
          <p:nvPr/>
        </p:nvSpPr>
        <p:spPr>
          <a:xfrm>
            <a:off x="6492240" y="3794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Rendre l'infra gérable par 2 admins IT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4" name="Shape 27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35" name="Text 28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Chaque choix technique répond à au moins un pilier — c'est notre grille de décision.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Proxmox VE — Architecture des 6 VMs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= hyperviseur open source KVM — 6 serveurs virtuels isolés sur 1 serveur physique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91440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8.x — 8 cœurs / 64 Go RAM / 4× SSD 2 To RAID-6 / ZFS  |  Lyon HQ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" y="1463040"/>
            <a:ext cx="2697480" cy="12801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" y="1463040"/>
            <a:ext cx="73152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15361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VM01 DC01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181051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Samba4 AD + DNS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Annuaire central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331720"/>
            <a:ext cx="1463040" cy="256032"/>
          </a:xfrm>
          <a:prstGeom prst="rect">
            <a:avLst/>
          </a:prstGeom>
          <a:solidFill>
            <a:srgbClr val="EF4444">
              <a:alpha val="15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3317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vCPU · 8 Go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200400" y="1463040"/>
            <a:ext cx="2697480" cy="12801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1463040"/>
            <a:ext cx="73152" cy="12801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5361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VM02 pfSense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383280" y="181051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+ VPN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réseau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383280" y="2331720"/>
            <a:ext cx="1463040" cy="256032"/>
          </a:xfrm>
          <a:prstGeom prst="rect">
            <a:avLst/>
          </a:prstGeom>
          <a:solidFill>
            <a:srgbClr val="F97316">
              <a:alpha val="15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3383280" y="23317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vCPU · 4 Go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80760" y="1463040"/>
            <a:ext cx="2697480" cy="12801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080760" y="1463040"/>
            <a:ext cx="73152" cy="1280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6263640" y="15361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VM03 Wazuh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263640" y="181051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+ SIEM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intrusions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63640" y="2331720"/>
            <a:ext cx="1463040" cy="256032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6263640" y="23317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vCPU · 16 Go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20040" y="2971800"/>
            <a:ext cx="2697480" cy="12801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0040" y="2971800"/>
            <a:ext cx="73152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5"/>
          <p:cNvSpPr/>
          <p:nvPr/>
        </p:nvSpPr>
        <p:spPr>
          <a:xfrm>
            <a:off x="502920" y="3044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VM04 Fichiers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331927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 + NFS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sécurisé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02920" y="3840480"/>
            <a:ext cx="1463040" cy="256032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8404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vCPU · 8 Go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200400" y="2971800"/>
            <a:ext cx="2697480" cy="12801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3200400" y="2971800"/>
            <a:ext cx="73152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1"/>
          <p:cNvSpPr/>
          <p:nvPr/>
        </p:nvSpPr>
        <p:spPr>
          <a:xfrm>
            <a:off x="3383280" y="3044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VM05 SQL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3383280" y="331927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+ API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métier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383280" y="3840480"/>
            <a:ext cx="1463040" cy="256032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3383280" y="38404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vCPU · 12 Go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080760" y="2971800"/>
            <a:ext cx="2697480" cy="12801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080760" y="2971800"/>
            <a:ext cx="73152" cy="1280160"/>
          </a:xfrm>
          <a:prstGeom prst="rect">
            <a:avLst/>
          </a:prstGeom>
          <a:solidFill>
            <a:srgbClr val="1C6070"/>
          </a:solidFill>
          <a:ln/>
        </p:spPr>
      </p:sp>
      <p:sp>
        <p:nvSpPr>
          <p:cNvPr id="40" name="Text 37"/>
          <p:cNvSpPr/>
          <p:nvPr/>
        </p:nvSpPr>
        <p:spPr>
          <a:xfrm>
            <a:off x="6263640" y="3044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VM06 Docker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263640" y="3319272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+ Services web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conteneurisées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263640" y="3840480"/>
            <a:ext cx="1463040" cy="256032"/>
          </a:xfrm>
          <a:prstGeom prst="rect">
            <a:avLst/>
          </a:prstGeom>
          <a:solidFill>
            <a:srgbClr val="1C6070">
              <a:alpha val="15000"/>
            </a:srgbClr>
          </a:solidFill>
          <a:ln/>
        </p:spPr>
      </p:sp>
      <p:sp>
        <p:nvSpPr>
          <p:cNvPr id="43" name="Text 40"/>
          <p:cNvSpPr/>
          <p:nvPr/>
        </p:nvSpPr>
        <p:spPr>
          <a:xfrm>
            <a:off x="6263640" y="38404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vCPU · 8 Go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6" name="Text 43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6 VMs isolées = si une VM est compromise, les autres restent protégées (cloisonnement).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Segmentation Réseau — 6 VLANs pfSense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= réseau virtuel isolé. pfSense filtre ce qui passe de l'un à l'autre (Deny-by-Default)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3200400" y="914400"/>
            <a:ext cx="2743200" cy="59436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9144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 CE — Pare-feu Central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8 règles strictes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1828800"/>
            <a:ext cx="256032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182880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Shape 7"/>
          <p:cNvSpPr/>
          <p:nvPr/>
        </p:nvSpPr>
        <p:spPr>
          <a:xfrm>
            <a:off x="365760" y="1965960"/>
            <a:ext cx="731520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365760" y="19659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10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88720" y="193852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 Lyon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215798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10.10.10.0/24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2468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inter-VLAN par défaut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08960" y="1828800"/>
            <a:ext cx="256032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108960" y="1828800"/>
            <a:ext cx="25603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Shape 14"/>
          <p:cNvSpPr/>
          <p:nvPr/>
        </p:nvSpPr>
        <p:spPr>
          <a:xfrm>
            <a:off x="3200400" y="1965960"/>
            <a:ext cx="731520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3200400" y="19659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20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023360" y="193852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Postes Lyon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023360" y="215798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10.10.20.0/24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200400" y="2468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inter-VLAN par défaut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943600" y="1828800"/>
            <a:ext cx="256032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943600" y="182880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Shape 21"/>
          <p:cNvSpPr/>
          <p:nvPr/>
        </p:nvSpPr>
        <p:spPr>
          <a:xfrm>
            <a:off x="6035040" y="1965960"/>
            <a:ext cx="731520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035040" y="19659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30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858000" y="193852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 MRS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858000" y="215798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10.10.30.0/24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035040" y="2468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inter-VLAN par défaut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274320" y="3154680"/>
            <a:ext cx="256032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274320" y="3154680"/>
            <a:ext cx="25603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Shape 28"/>
          <p:cNvSpPr/>
          <p:nvPr/>
        </p:nvSpPr>
        <p:spPr>
          <a:xfrm>
            <a:off x="365760" y="3291840"/>
            <a:ext cx="731520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2" name="Text 29"/>
          <p:cNvSpPr/>
          <p:nvPr/>
        </p:nvSpPr>
        <p:spPr>
          <a:xfrm>
            <a:off x="365760" y="329184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40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88720" y="3264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Postes MRS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188720" y="348386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10.10.40.0/24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65760" y="3794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inter-VLAN par défaut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108960" y="3154680"/>
            <a:ext cx="256032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3108960" y="315468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3200400" y="3291840"/>
            <a:ext cx="731520" cy="2560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6"/>
          <p:cNvSpPr/>
          <p:nvPr/>
        </p:nvSpPr>
        <p:spPr>
          <a:xfrm>
            <a:off x="3200400" y="329184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50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023360" y="3264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4023360" y="348386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10.10.50.0/24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3200400" y="3794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SSH/SNMP only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5943600" y="3154680"/>
            <a:ext cx="256032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5943600" y="315468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5" name="Shape 42"/>
          <p:cNvSpPr/>
          <p:nvPr/>
        </p:nvSpPr>
        <p:spPr>
          <a:xfrm>
            <a:off x="6035040" y="3291840"/>
            <a:ext cx="731520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3"/>
          <p:cNvSpPr/>
          <p:nvPr/>
        </p:nvSpPr>
        <p:spPr>
          <a:xfrm>
            <a:off x="6035040" y="329184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100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858000" y="3264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Nomades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6858000" y="348386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10.10.100.0/24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035040" y="3794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OpenVPN + certificat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2" name="Text 49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Segmenter = limiter la propagation. Un pirate VLAN 20 ne peut PAS accéder au VLAN 10 serveurs.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Topologie Globale — Lyon ↔ Marseille ↔ Nomades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: 2 sites répliqués + 20 nomades connectés via VPN IPsec chiffré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3200400" y="896112"/>
            <a:ext cx="274320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0" y="8961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INTERNET (Dual ISP)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1554480"/>
            <a:ext cx="3657600" cy="27432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1554480"/>
            <a:ext cx="3657600" cy="36576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1554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SITE LYON — HQ (40 pers)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1480" y="2148840"/>
            <a:ext cx="13716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0574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 Firewall (WAN/LAN/DMZ)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11480" y="2496312"/>
            <a:ext cx="13716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40487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Host (8c/64Go/4×2To)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843784"/>
            <a:ext cx="13716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4360" y="275234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DC01 Samba4 (FSMO Master)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3191256"/>
            <a:ext cx="13716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09981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Fichiers + MariaDB Primary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11480" y="3538728"/>
            <a:ext cx="13716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447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Wazuh + Monitoring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886200"/>
            <a:ext cx="13716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Docker + CRM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931920" y="2926080"/>
            <a:ext cx="1280160" cy="0"/>
          </a:xfrm>
          <a:prstGeom prst="line">
            <a:avLst/>
          </a:prstGeom>
          <a:noFill/>
          <a:ln w="38100">
            <a:solidFill>
              <a:srgbClr val="10B981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931920" y="2423160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IPsec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Réplication 15 min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212080" y="1554480"/>
            <a:ext cx="3657600" cy="27432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212080" y="1554480"/>
            <a:ext cx="3657600" cy="365760"/>
          </a:xfrm>
          <a:prstGeom prst="rect">
            <a:avLst/>
          </a:prstGeom>
          <a:solidFill>
            <a:srgbClr val="1C6070"/>
          </a:solidFill>
          <a:ln/>
        </p:spPr>
      </p:sp>
      <p:sp>
        <p:nvSpPr>
          <p:cNvPr id="27" name="Text 24"/>
          <p:cNvSpPr/>
          <p:nvPr/>
        </p:nvSpPr>
        <p:spPr>
          <a:xfrm>
            <a:off x="5303520" y="1554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SITE MARSEILLE (25 pers)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349240" y="2148840"/>
            <a:ext cx="137160" cy="0"/>
          </a:xfrm>
          <a:prstGeom prst="line">
            <a:avLst/>
          </a:prstGeom>
          <a:noFill/>
          <a:ln w="31750">
            <a:solidFill>
              <a:srgbClr val="1C607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32120" y="20574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 Firewall local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349240" y="2496312"/>
            <a:ext cx="137160" cy="0"/>
          </a:xfrm>
          <a:prstGeom prst="line">
            <a:avLst/>
          </a:prstGeom>
          <a:noFill/>
          <a:ln w="31750">
            <a:solidFill>
              <a:srgbClr val="1C607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532120" y="240487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Host (4c/32Go/2×1To)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2843784"/>
            <a:ext cx="137160" cy="0"/>
          </a:xfrm>
          <a:prstGeom prst="line">
            <a:avLst/>
          </a:prstGeom>
          <a:noFill/>
          <a:ln w="31750">
            <a:solidFill>
              <a:srgbClr val="1C607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32120" y="275234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Samba4 (RODC)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349240" y="3191256"/>
            <a:ext cx="137160" cy="0"/>
          </a:xfrm>
          <a:prstGeom prst="line">
            <a:avLst/>
          </a:prstGeom>
          <a:noFill/>
          <a:ln w="31750">
            <a:solidFill>
              <a:srgbClr val="1C607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532120" y="309981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Replica (Read-Only)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349240" y="3538728"/>
            <a:ext cx="137160" cy="0"/>
          </a:xfrm>
          <a:prstGeom prst="line">
            <a:avLst/>
          </a:prstGeom>
          <a:noFill/>
          <a:ln w="31750">
            <a:solidFill>
              <a:srgbClr val="1C607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532120" y="3447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Veeam Proxy backup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349240" y="3886200"/>
            <a:ext cx="137160" cy="0"/>
          </a:xfrm>
          <a:prstGeom prst="line">
            <a:avLst/>
          </a:prstGeom>
          <a:noFill/>
          <a:ln w="31750">
            <a:solidFill>
              <a:srgbClr val="1C607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53212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local fichiers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657600" y="4343400"/>
            <a:ext cx="1828800" cy="502920"/>
          </a:xfrm>
          <a:prstGeom prst="oval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1" name="Text 38"/>
          <p:cNvSpPr/>
          <p:nvPr/>
        </p:nvSpPr>
        <p:spPr>
          <a:xfrm>
            <a:off x="3657600" y="4343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20 Nomades (OpenVPN + TOTP + certificat)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74320" y="489204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274320" y="489204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4" name="Text 41"/>
          <p:cNvSpPr/>
          <p:nvPr/>
        </p:nvSpPr>
        <p:spPr>
          <a:xfrm>
            <a:off x="411480" y="489204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Topologie hub-and-spoke : Lyon = datacenter principal, Marseille = site de repli, nomades via VPN.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14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Directory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Forêt, OU &amp; GPO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Samba4 — gestion centralisée des identités et politiques de sécurité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 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67328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685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rôle d'un annuaire AD (qui a accès à quoi)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867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 schéma de forêt AD avec ses OU (unités organisationnelles)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370832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2885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7 GPO et leur impact sur la sécurité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Forêt Active Directory — Samba4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 organise tous les utilisateurs, postes et serveurs en une arborescence logique centralisée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1371600" y="868680"/>
            <a:ext cx="6400800" cy="384048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1371600" y="86868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 : nova-syndicate.local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0" y="1252728"/>
            <a:ext cx="0" cy="201168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28800" y="1463040"/>
            <a:ext cx="5486400" cy="365760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10" name="Text 7"/>
          <p:cNvSpPr/>
          <p:nvPr/>
        </p:nvSpPr>
        <p:spPr>
          <a:xfrm>
            <a:off x="18288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: nova-syndicate.local  (DC01 Lyon + DC02 Marseille)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14400" y="1965960"/>
            <a:ext cx="7315200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1874520"/>
            <a:ext cx="0" cy="256032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7160" y="2130552"/>
            <a:ext cx="1280160" cy="713232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" y="21305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37160" y="26060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users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194560" y="1874520"/>
            <a:ext cx="0" cy="256032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45920" y="2130552"/>
            <a:ext cx="1280160" cy="713232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1645920" y="21305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Admins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645920" y="26060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users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1874520"/>
            <a:ext cx="0" cy="256032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54680" y="2130552"/>
            <a:ext cx="1280160" cy="713232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154680" y="21305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154680" y="26060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users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212080" y="1874520"/>
            <a:ext cx="0" cy="256032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63440" y="2130552"/>
            <a:ext cx="1280160" cy="713232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663440" y="21305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63440" y="26060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users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720840" y="1874520"/>
            <a:ext cx="0" cy="256032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2200" y="2130552"/>
            <a:ext cx="1280160" cy="713232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172200" y="21305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Nomades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6060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users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229600" y="1874520"/>
            <a:ext cx="0" cy="256032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80960" y="2130552"/>
            <a:ext cx="1280160" cy="713232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680960" y="21305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680960" y="26060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VMs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274320" y="3108960"/>
            <a:ext cx="4023360" cy="10515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274320" y="3108960"/>
            <a:ext cx="4023360" cy="292608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8" name="Text 35"/>
          <p:cNvSpPr/>
          <p:nvPr/>
        </p:nvSpPr>
        <p:spPr>
          <a:xfrm>
            <a:off x="365760" y="31089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FSMO — DC01 Lyon (Maître)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57200" y="3547872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58368" y="3493008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 Emulator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57200" y="3666744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58368" y="3611880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 Master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457200" y="3785616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58368" y="3730752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Master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57200" y="3904488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58368" y="3849624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Master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57200" y="4023360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58368" y="3968496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Naming Master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46320" y="3108960"/>
            <a:ext cx="4023360" cy="1051560"/>
          </a:xfrm>
          <a:prstGeom prst="rect">
            <a:avLst/>
          </a:prstGeom>
          <a:solidFill>
            <a:srgbClr val="A8F0E6">
              <a:alpha val="60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4846320" y="3108960"/>
            <a:ext cx="4023360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1" name="Text 48"/>
          <p:cNvSpPr/>
          <p:nvPr/>
        </p:nvSpPr>
        <p:spPr>
          <a:xfrm>
            <a:off x="4937760" y="31089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Réplication DC01 ↔ DC02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5029200" y="3456432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  ←→  Marseille via VPN IPsec AES-256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Réplication toutes les 15 min · Failover auto si DC01 tombe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5" name="Text 52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AD centralise les identités — si DC01 tombe, DC02 prend le relais automatiquement.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GPO — 7 Politiques de Sécurité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 = règle de sécurité appliquée automatiquement à un groupe d'utilisateurs ou machines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54864" cy="40233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4"/>
          <p:cNvSpPr/>
          <p:nvPr/>
        </p:nvSpPr>
        <p:spPr>
          <a:xfrm>
            <a:off x="329184" y="914400"/>
            <a:ext cx="8540496" cy="402336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8" name="Text 5"/>
          <p:cNvSpPr/>
          <p:nvPr/>
        </p:nvSpPr>
        <p:spPr>
          <a:xfrm>
            <a:off x="411480" y="9144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GPO-Password-Policy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834640" y="987552"/>
            <a:ext cx="822960" cy="256032"/>
          </a:xfrm>
          <a:prstGeom prst="rect">
            <a:avLst/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2834640" y="98755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794760" y="914400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14 chars · Complexité · Expiration 90j · Verrouillage 5 tentatives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4320" y="1408176"/>
            <a:ext cx="54864" cy="40233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Shape 10"/>
          <p:cNvSpPr/>
          <p:nvPr/>
        </p:nvSpPr>
        <p:spPr>
          <a:xfrm>
            <a:off x="329184" y="1408176"/>
            <a:ext cx="8540496" cy="40233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4" name="Text 11"/>
          <p:cNvSpPr/>
          <p:nvPr/>
        </p:nvSpPr>
        <p:spPr>
          <a:xfrm>
            <a:off x="411480" y="140817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GPO-MFA-Obligatoire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834640" y="1481328"/>
            <a:ext cx="822960" cy="256032"/>
          </a:xfrm>
          <a:prstGeom prst="rect">
            <a:avLst/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283464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users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794760" y="1408176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Microsoft Authenticator requis — blocage si non enrôlé sous 14j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74320" y="1901952"/>
            <a:ext cx="54864" cy="4023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Shape 16"/>
          <p:cNvSpPr/>
          <p:nvPr/>
        </p:nvSpPr>
        <p:spPr>
          <a:xfrm>
            <a:off x="329184" y="1901952"/>
            <a:ext cx="8540496" cy="402336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190195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GPO-Admin-MFA-Hardkey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834640" y="1975104"/>
            <a:ext cx="822960" cy="256032"/>
          </a:xfrm>
          <a:prstGeom prst="rect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2834640" y="19751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Admins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3794760" y="1901952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YubiKey FIDO2 obligatoire — aucun accès admin sans clé physique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74320" y="2395728"/>
            <a:ext cx="54864" cy="40233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Shape 22"/>
          <p:cNvSpPr/>
          <p:nvPr/>
        </p:nvSpPr>
        <p:spPr>
          <a:xfrm>
            <a:off x="329184" y="2395728"/>
            <a:ext cx="8540496" cy="40233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6" name="Text 23"/>
          <p:cNvSpPr/>
          <p:nvPr/>
        </p:nvSpPr>
        <p:spPr>
          <a:xfrm>
            <a:off x="411480" y="239572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GPO-USB-Block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34640" y="2468880"/>
            <a:ext cx="822960" cy="256032"/>
          </a:xfrm>
          <a:prstGeom prst="rect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2834640" y="246888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postes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3794760" y="23957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USB bloquées — empêche exfiltration et malwares USB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74320" y="2889504"/>
            <a:ext cx="54864" cy="40233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Shape 28"/>
          <p:cNvSpPr/>
          <p:nvPr/>
        </p:nvSpPr>
        <p:spPr>
          <a:xfrm>
            <a:off x="329184" y="2889504"/>
            <a:ext cx="8540496" cy="402336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32" name="Text 29"/>
          <p:cNvSpPr/>
          <p:nvPr/>
        </p:nvSpPr>
        <p:spPr>
          <a:xfrm>
            <a:off x="411480" y="288950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GPO-Server-Hardening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834640" y="2962656"/>
            <a:ext cx="822960" cy="256032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2834640" y="296265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3794760" y="2889504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Benchmark L1 · Services inutiles off · auditd actif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274320" y="3383280"/>
            <a:ext cx="54864" cy="40233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Shape 34"/>
          <p:cNvSpPr/>
          <p:nvPr/>
        </p:nvSpPr>
        <p:spPr>
          <a:xfrm>
            <a:off x="329184" y="3383280"/>
            <a:ext cx="8540496" cy="40233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8" name="Text 35"/>
          <p:cNvSpPr/>
          <p:nvPr/>
        </p:nvSpPr>
        <p:spPr>
          <a:xfrm>
            <a:off x="411480" y="338328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GPO-Audit-Logs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34640" y="3456432"/>
            <a:ext cx="822960" cy="256032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2834640" y="34564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3794760" y="3383280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connexions/fichiers — rétention WORM 12 mois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74320" y="3877056"/>
            <a:ext cx="54864" cy="40233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3" name="Shape 40"/>
          <p:cNvSpPr/>
          <p:nvPr/>
        </p:nvSpPr>
        <p:spPr>
          <a:xfrm>
            <a:off x="329184" y="3877056"/>
            <a:ext cx="8540496" cy="402336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44" name="Text 41"/>
          <p:cNvSpPr/>
          <p:nvPr/>
        </p:nvSpPr>
        <p:spPr>
          <a:xfrm>
            <a:off x="411480" y="387705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GPO-VPN-Only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2834640" y="3950208"/>
            <a:ext cx="822960" cy="256032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6" name="Text 43"/>
          <p:cNvSpPr/>
          <p:nvPr/>
        </p:nvSpPr>
        <p:spPr>
          <a:xfrm>
            <a:off x="2834640" y="395020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Nomades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3794760" y="3877056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SI uniquement via VPN — certificat client obligatoire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0" name="Text 47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Les GPO s'appliquent automatiquement — conformité 100% du parc, aucun oubli possible.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14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Cybersécurité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MFA &amp; Chiffrement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accès, données au repos et en transit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 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67328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685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MFA et pourquoi il est indispensable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867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Différencier chiffrement en transit vs au repos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370832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2885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algorithmes utilisés (AES-256, ECDHE, Ed25519)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MFA — Déploiement par Profil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= Multi-Factor Authentication — en plus du mot de passe, un 2e facteur (code ou clé physique)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28600" y="914400"/>
            <a:ext cx="2057400" cy="29260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28600" y="914400"/>
            <a:ext cx="20574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228600" y="105156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228600" y="16916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IT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0040" y="20116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YubiKey 5 NFC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FIDO2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1480" y="2606040"/>
            <a:ext cx="1691640" cy="237744"/>
          </a:xfrm>
          <a:prstGeom prst="rect">
            <a:avLst/>
          </a:prstGeom>
          <a:solidFill>
            <a:srgbClr val="EF4444">
              <a:alpha val="15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411480" y="260604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28600" y="2971800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: 120 €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468880" y="914400"/>
            <a:ext cx="2057400" cy="29260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468880" y="914400"/>
            <a:ext cx="20574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2468880" y="105156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4200" dirty="0"/>
          </a:p>
        </p:txBody>
      </p:sp>
      <p:sp>
        <p:nvSpPr>
          <p:cNvPr id="17" name="Text 14"/>
          <p:cNvSpPr/>
          <p:nvPr/>
        </p:nvSpPr>
        <p:spPr>
          <a:xfrm>
            <a:off x="2468880" y="16916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2560320" y="20116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Authenticator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651760" y="2606040"/>
            <a:ext cx="1691640" cy="237744"/>
          </a:xfrm>
          <a:prstGeom prst="rect">
            <a:avLst/>
          </a:prstGeom>
          <a:solidFill>
            <a:srgbClr val="F97316">
              <a:alpha val="15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2651760" y="260604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élevé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468880" y="2971800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: 0 €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914400"/>
            <a:ext cx="2057400" cy="29260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709160" y="914400"/>
            <a:ext cx="20574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1"/>
          <p:cNvSpPr/>
          <p:nvPr/>
        </p:nvSpPr>
        <p:spPr>
          <a:xfrm>
            <a:off x="4709160" y="105156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</a:t>
            </a:r>
            <a:endParaRPr lang="en-US" sz="4200" dirty="0"/>
          </a:p>
        </p:txBody>
      </p:sp>
      <p:sp>
        <p:nvSpPr>
          <p:cNvPr id="25" name="Text 22"/>
          <p:cNvSpPr/>
          <p:nvPr/>
        </p:nvSpPr>
        <p:spPr>
          <a:xfrm>
            <a:off x="4709160" y="16916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800600" y="20116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Authenticator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892040" y="2606040"/>
            <a:ext cx="1691640" cy="237744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4892040" y="260604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709160" y="2971800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: 0 €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949440" y="914400"/>
            <a:ext cx="2057400" cy="29260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949440" y="914400"/>
            <a:ext cx="20574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Text 29"/>
          <p:cNvSpPr/>
          <p:nvPr/>
        </p:nvSpPr>
        <p:spPr>
          <a:xfrm>
            <a:off x="6949440" y="1051560"/>
            <a:ext cx="2057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4200" dirty="0"/>
          </a:p>
        </p:txBody>
      </p:sp>
      <p:sp>
        <p:nvSpPr>
          <p:cNvPr id="33" name="Text 30"/>
          <p:cNvSpPr/>
          <p:nvPr/>
        </p:nvSpPr>
        <p:spPr>
          <a:xfrm>
            <a:off x="6949440" y="16916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Nomades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040880" y="20116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+ Certificat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client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132320" y="2606040"/>
            <a:ext cx="1691640" cy="237744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36" name="Text 33"/>
          <p:cNvSpPr/>
          <p:nvPr/>
        </p:nvSpPr>
        <p:spPr>
          <a:xfrm>
            <a:off x="7132320" y="260604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élevé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6949440" y="2971800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: 0 €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228600" y="3977640"/>
            <a:ext cx="8686800" cy="347472"/>
          </a:xfrm>
          <a:prstGeom prst="rect">
            <a:avLst/>
          </a:prstGeom>
          <a:solidFill>
            <a:srgbClr val="EF4444">
              <a:alpha val="1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5760" y="39776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 : Ne JAMAIS approuver une demande MFA que vous n'avez pas vous-même déclenchée.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274320" y="443484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274320" y="443484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2" name="Text 39"/>
          <p:cNvSpPr/>
          <p:nvPr/>
        </p:nvSpPr>
        <p:spPr>
          <a:xfrm>
            <a:off x="411480" y="443484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MFA bloque 99,9% des attaques par mot de passe volé (Microsoft). Coût total : 240 €.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Chiffrement — Transit &amp; Au Repos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85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TRANSIT (réseau)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709160" y="685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REPOS (disque)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7" name="Shape 4"/>
          <p:cNvSpPr/>
          <p:nvPr/>
        </p:nvSpPr>
        <p:spPr>
          <a:xfrm>
            <a:off x="274320" y="914400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4320" y="914400"/>
            <a:ext cx="54864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438912" y="9601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interne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828800" y="960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38912" y="12801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+ ECDHE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914400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914400"/>
            <a:ext cx="54864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4873752" y="9601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site-à-site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263640" y="9601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+ OpenVPN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73752" y="12801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 + SHA-384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1810512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74320" y="1810512"/>
            <a:ext cx="54864" cy="7498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" y="185623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 Linux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828800" y="18562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LUKS2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38912" y="2176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AES-256-XTS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1810512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709160" y="1810512"/>
            <a:ext cx="54864" cy="7498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4873752" y="185623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Postes Windows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263640" y="18562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+ TPM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873752" y="2176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74320" y="2706624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274320" y="2706624"/>
            <a:ext cx="54864" cy="7498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Text 26"/>
          <p:cNvSpPr/>
          <p:nvPr/>
        </p:nvSpPr>
        <p:spPr>
          <a:xfrm>
            <a:off x="438912" y="275234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828800" y="27523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PBKDF2-SHA512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38912" y="30723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+ sel 128 bits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09160" y="2706624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09160" y="2706624"/>
            <a:ext cx="54864" cy="7498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4" name="Text 31"/>
          <p:cNvSpPr/>
          <p:nvPr/>
        </p:nvSpPr>
        <p:spPr>
          <a:xfrm>
            <a:off x="4873752" y="275234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serveurs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263640" y="27523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asym.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73752" y="30723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/ RSA 4096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74320" y="3602736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274320" y="3602736"/>
            <a:ext cx="54864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6"/>
          <p:cNvSpPr/>
          <p:nvPr/>
        </p:nvSpPr>
        <p:spPr>
          <a:xfrm>
            <a:off x="438912" y="364845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Ansible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1828800" y="364845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Vault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38912" y="39684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709160" y="3602736"/>
            <a:ext cx="4160520" cy="749808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4709160" y="3602736"/>
            <a:ext cx="54864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41"/>
          <p:cNvSpPr/>
          <p:nvPr/>
        </p:nvSpPr>
        <p:spPr>
          <a:xfrm>
            <a:off x="4873752" y="364845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Certificats PKI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263640" y="364845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pfSense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873752" y="39684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ECDSA P-384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9" name="Text 46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Tout est chiffré partout — transit ET repos. Norme AES-256 minimum partout.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14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CAPEX &amp; OPEX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Scénarios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TCO 5 ans : Light · Balanced · Enterprise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 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67328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685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= investissement initial, OPEX = coûts récurrents annuels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867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3 scénarios et comprendre l'écart de coût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370832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2885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Justifier le choix du scénario B recommandé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TCO 5 ans — 3 Scénarios Comparés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= Total Cost of Ownership = CAPEX + OPEX cumulés sur 5 ans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182880" y="896112"/>
            <a:ext cx="2788920" cy="36118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2880" y="896112"/>
            <a:ext cx="2788920" cy="65836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182880" y="89611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82880" y="1207008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— Open Source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" y="1691640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20040" y="183794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5 200 €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0040" y="222199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20040" y="2368296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561 €/an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20040" y="275234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5 ans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20040" y="289864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8 505 €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20040" y="3337560"/>
            <a:ext cx="2468880" cy="0"/>
          </a:xfrm>
          <a:prstGeom prst="line">
            <a:avLst/>
          </a:prstGeom>
          <a:noFill/>
          <a:ln w="6350">
            <a:solidFill>
              <a:srgbClr val="EDF2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34015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+ pfSense CE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Samba4 + Veeam Community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0040" y="39319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Économique mais support limité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00400" y="896112"/>
            <a:ext cx="2788920" cy="36118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200400" y="896112"/>
            <a:ext cx="2788920" cy="658368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21" name="Text 18"/>
          <p:cNvSpPr/>
          <p:nvPr/>
        </p:nvSpPr>
        <p:spPr>
          <a:xfrm>
            <a:off x="3200400" y="89611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B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200400" y="1207008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BALANCED — Recommandé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337560" y="1691640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337560" y="183794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9 150 €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3337560" y="222199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337560" y="2368296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1 780 €/an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3337560" y="275234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5 ans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337560" y="289864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18 850 €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3337560" y="3337560"/>
            <a:ext cx="2468880" cy="0"/>
          </a:xfrm>
          <a:prstGeom prst="line">
            <a:avLst/>
          </a:prstGeom>
          <a:noFill/>
          <a:ln w="6350">
            <a:solidFill>
              <a:srgbClr val="EDF2F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337560" y="34015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+ Veeam Essentials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Samba4 + Wasabi S3 WORM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3337560" y="39319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rapport qualité/prix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217920" y="896112"/>
            <a:ext cx="2788920" cy="36118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17920" y="896112"/>
            <a:ext cx="2788920" cy="65836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4" name="Text 31"/>
          <p:cNvSpPr/>
          <p:nvPr/>
        </p:nvSpPr>
        <p:spPr>
          <a:xfrm>
            <a:off x="6217920" y="89611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C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217920" y="1207008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Propriétaire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55080" y="1691640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6355080" y="183794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100 425 €</a:t>
            </a:r>
            <a:endParaRPr lang="en-US" sz="2000" dirty="0"/>
          </a:p>
        </p:txBody>
      </p:sp>
      <p:sp>
        <p:nvSpPr>
          <p:cNvPr id="38" name="Text 35"/>
          <p:cNvSpPr/>
          <p:nvPr/>
        </p:nvSpPr>
        <p:spPr>
          <a:xfrm>
            <a:off x="6355080" y="222199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OPEX/an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355080" y="2368296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115 505 €/an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6355080" y="275234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5 ans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355080" y="289864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687 950 €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6355080" y="3337560"/>
            <a:ext cx="2468880" cy="0"/>
          </a:xfrm>
          <a:prstGeom prst="line">
            <a:avLst/>
          </a:prstGeom>
          <a:noFill/>
          <a:ln w="6350">
            <a:solidFill>
              <a:srgbClr val="EDF2F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55080" y="34015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 + Windows Server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+ SentinelOne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6355080" y="39319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Sur-dimensionné pour 85 employés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7" name="Text 44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Scénario B = 36× moins cher que C avec 90% du même niveau de sécurité.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Graphique — TCO 5 ans par Scénario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0" y="749808"/>
            <a:ext cx="228600" cy="16459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6" name="Text 3"/>
          <p:cNvSpPr/>
          <p:nvPr/>
        </p:nvSpPr>
        <p:spPr>
          <a:xfrm>
            <a:off x="3017520" y="73152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389120" y="749808"/>
            <a:ext cx="228600" cy="164592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8" name="Text 5"/>
          <p:cNvSpPr/>
          <p:nvPr/>
        </p:nvSpPr>
        <p:spPr>
          <a:xfrm>
            <a:off x="4663440" y="7315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5 ans cumulé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74320" y="1051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A — Light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74320" y="13441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: 8 505 €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43200" y="1371600"/>
            <a:ext cx="137160" cy="347472"/>
          </a:xfrm>
          <a:prstGeom prst="rect">
            <a:avLst/>
          </a:prstGeom>
          <a:solidFill>
            <a:srgbClr val="3BD4AE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971800" y="13716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5 200 €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743200" y="1783080"/>
            <a:ext cx="137160" cy="347472"/>
          </a:xfrm>
          <a:prstGeom prst="rect">
            <a:avLst/>
          </a:prstGeom>
          <a:solidFill>
            <a:srgbClr val="1B3A4B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971800" y="17830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2 805 €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743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B — Balanced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4320" y="26243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: 18 850 €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0" y="2651760"/>
            <a:ext cx="137160" cy="347472"/>
          </a:xfrm>
          <a:prstGeom prst="rect">
            <a:avLst/>
          </a:prstGeom>
          <a:solidFill>
            <a:srgbClr val="3BD4AE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971800" y="26517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9 150 €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43200" y="3063240"/>
            <a:ext cx="137160" cy="347472"/>
          </a:xfrm>
          <a:prstGeom prst="rect">
            <a:avLst/>
          </a:prstGeom>
          <a:solidFill>
            <a:srgbClr val="1B3A4B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2971800" y="30632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8 900 €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74320" y="36118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C — Enterprise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274320" y="39044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: 687 950 €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43200" y="3931920"/>
            <a:ext cx="707452" cy="347472"/>
          </a:xfrm>
          <a:prstGeom prst="rect">
            <a:avLst/>
          </a:prstGeom>
          <a:solidFill>
            <a:srgbClr val="3BD4AE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3542092" y="39319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100 425 €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743200" y="4343400"/>
            <a:ext cx="4068422" cy="347472"/>
          </a:xfrm>
          <a:prstGeom prst="rect">
            <a:avLst/>
          </a:prstGeom>
          <a:solidFill>
            <a:srgbClr val="1B3A4B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03062" y="43434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577 525 €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400800" y="1097280"/>
            <a:ext cx="2468880" cy="914400"/>
          </a:xfrm>
          <a:prstGeom prst="rect">
            <a:avLst/>
          </a:prstGeom>
          <a:solidFill>
            <a:srgbClr val="A8F0E6">
              <a:alpha val="50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492240" y="11430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×36</a:t>
            </a:r>
            <a:endParaRPr lang="en-US" sz="3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coûte 36× plus que B</a:t>
            </a:r>
            <a:endParaRPr lang="en-US" sz="3200" dirty="0"/>
          </a:p>
        </p:txBody>
      </p:sp>
      <p:sp>
        <p:nvSpPr>
          <p:cNvPr id="29" name="Shape 26"/>
          <p:cNvSpPr/>
          <p:nvPr/>
        </p:nvSpPr>
        <p:spPr>
          <a:xfrm>
            <a:off x="6400800" y="2194560"/>
            <a:ext cx="2468880" cy="8229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92240" y="2240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18 850 €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TCO 5 ans Scénario B</a:t>
            </a:r>
            <a:endParaRPr lang="en-US" sz="2600" dirty="0"/>
          </a:p>
        </p:txBody>
      </p:sp>
      <p:sp>
        <p:nvSpPr>
          <p:cNvPr id="31" name="Shape 28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33" name="Text 30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L'écart visuel est massif — B offre 90% de la sécurité de C pour 3% du prix.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60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57200" y="18288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Implémentation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Technique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conception au déploiement : Samba4, fichiers, MariaDB, Proxmox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Technologiques — Comparatifs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composant a été évalué face à 2 alternatives. Le choix est toujours justifié par le coût, la sécurité et l'intégration.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60120"/>
            <a:ext cx="4160520" cy="16002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960120"/>
            <a:ext cx="4160520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960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Annuaire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60" y="1371600"/>
            <a:ext cx="2103120" cy="384048"/>
          </a:xfrm>
          <a:prstGeom prst="rect">
            <a:avLst/>
          </a:prstGeom>
          <a:solidFill>
            <a:srgbClr val="EF4444">
              <a:alpha val="1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411480" y="13716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Samba4 AD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560320" y="13716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Windows Server AD / OpenLDAP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6576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 + compatibilité AD 100% + Linux natif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09160" y="960120"/>
            <a:ext cx="4160520" cy="16002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960120"/>
            <a:ext cx="4160520" cy="320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960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00600" y="1371600"/>
            <a:ext cx="2103120" cy="384048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4846320" y="13716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Samba SMB3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13716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NFS / SharePoint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006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Intégration AD native + TLS + ACL complètes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4320" y="2743200"/>
            <a:ext cx="4160520" cy="16002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74320" y="2743200"/>
            <a:ext cx="4160520" cy="320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365760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65760" y="3154680"/>
            <a:ext cx="2103120" cy="384048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411480" y="31546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MariaDB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2560320" y="315468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MySQL 8 / PostgreSQL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6576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 + OLTP performant + binlog réplication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09160" y="2743200"/>
            <a:ext cx="4160520" cy="16002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709160" y="2743200"/>
            <a:ext cx="416052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6"/>
          <p:cNvSpPr/>
          <p:nvPr/>
        </p:nvSpPr>
        <p:spPr>
          <a:xfrm>
            <a:off x="4800600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Hyperviseur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800600" y="3154680"/>
            <a:ext cx="2103120" cy="384048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4846320" y="31546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Proxmox VE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315468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VMware ESXi / Hyper-V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8006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 + KVM léger + ZFS + excellent HA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36" name="Text 33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100% open source = 0 € de licences, compatibilité totale avec l'écosystème Microsoft.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Contrôle d'Accès — RBAC &amp; Principe du Moindre Privilège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= Role-Based Access Control. Chaque utilisateur a UNIQUEMENT les droits nécessaires à son rôle.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32688"/>
            <a:ext cx="8595360" cy="329184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" y="93268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468880" y="93268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617720" y="93268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766560" y="93268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Restrictions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4320" y="1298448"/>
            <a:ext cx="54864" cy="42062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Shape 9"/>
          <p:cNvSpPr/>
          <p:nvPr/>
        </p:nvSpPr>
        <p:spPr>
          <a:xfrm>
            <a:off x="329184" y="1298448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12984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GRP_ADMIN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14600" y="12984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IT, DSI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663440" y="12984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ressources + GPO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812280" y="129844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activités sensibles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1773936"/>
            <a:ext cx="54864" cy="42062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" y="1773936"/>
            <a:ext cx="8540496" cy="420624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177393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GRP_IT_SUPP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514600" y="177393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IT (3)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63440" y="177393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Partages technique (RW)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12280" y="1773936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données métier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4320" y="2249424"/>
            <a:ext cx="54864" cy="42062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21"/>
          <p:cNvSpPr/>
          <p:nvPr/>
        </p:nvSpPr>
        <p:spPr>
          <a:xfrm>
            <a:off x="329184" y="2249424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5" name="Text 22"/>
          <p:cNvSpPr/>
          <p:nvPr/>
        </p:nvSpPr>
        <p:spPr>
          <a:xfrm>
            <a:off x="365760" y="22494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GRP_FINANCE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514600" y="22494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Comptables Lyon+MRS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663440" y="22494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Répertoire Finance chiffré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812280" y="2249424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accès RH/Ventes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4320" y="2724912"/>
            <a:ext cx="54864" cy="4206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Shape 27"/>
          <p:cNvSpPr/>
          <p:nvPr/>
        </p:nvSpPr>
        <p:spPr>
          <a:xfrm>
            <a:off x="329184" y="2724912"/>
            <a:ext cx="8540496" cy="420624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" y="272491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GRP_RH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514600" y="272491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Lyon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663440" y="272491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Répertoire RH chiffré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812280" y="2724912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Isolé finance/IT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4320" y="3200400"/>
            <a:ext cx="54864" cy="4206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6" name="Shape 33"/>
          <p:cNvSpPr/>
          <p:nvPr/>
        </p:nvSpPr>
        <p:spPr>
          <a:xfrm>
            <a:off x="329184" y="3200400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3200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GRP_VENTES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2514600" y="3200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Commerciaux (12)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663440" y="3200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lecture seule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812280" y="3200400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accès BD clients RW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74320" y="3675888"/>
            <a:ext cx="54864" cy="42062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2" name="Shape 39"/>
          <p:cNvSpPr/>
          <p:nvPr/>
        </p:nvSpPr>
        <p:spPr>
          <a:xfrm>
            <a:off x="329184" y="3675888"/>
            <a:ext cx="8540496" cy="420624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3" name="Text 40"/>
          <p:cNvSpPr/>
          <p:nvPr/>
        </p:nvSpPr>
        <p:spPr>
          <a:xfrm>
            <a:off x="365760" y="367588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GRP_NOMADES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2514600" y="367588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Nomades (20)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663440" y="367588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+ accès limités RO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812280" y="3675888"/>
            <a:ext cx="2103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accès sensible sans MFA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solidFill>
            <a:srgbClr val="EF4444">
              <a:alpha val="10000"/>
            </a:srgbClr>
          </a:solidFill>
          <a:ln/>
        </p:spPr>
      </p:sp>
      <p:sp>
        <p:nvSpPr>
          <p:cNvPr id="48" name="Text 45"/>
          <p:cNvSpPr/>
          <p:nvPr/>
        </p:nvSpPr>
        <p:spPr>
          <a:xfrm>
            <a:off x="365760" y="4206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PoLP : Défaut = AUCUN accès · Audit trimestriel des droits · Escalade = log + approbation DSI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1" name="Text 48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Moindre privilège = réduire la surface d'attaque. Un comptable ne peut PAS accéder aux serveurs.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Serveur de Fichiers — Samba SMB3 &amp; ACL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" y="777240"/>
            <a:ext cx="3657600" cy="32004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7772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/mnt/shares (RAID-6 8 To)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22960" y="1097280"/>
            <a:ext cx="0" cy="22860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4320" y="1325880"/>
            <a:ext cx="1572768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1325880"/>
            <a:ext cx="1572768" cy="2926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132588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/Finance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" y="169164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: GRP_FINANCE (RW)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20040" y="201168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: 500 Go/user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20040" y="2331720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578608" y="1097280"/>
            <a:ext cx="0" cy="22860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029968" y="1325880"/>
            <a:ext cx="1572768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029968" y="1325880"/>
            <a:ext cx="1572768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4"/>
          <p:cNvSpPr/>
          <p:nvPr/>
        </p:nvSpPr>
        <p:spPr>
          <a:xfrm>
            <a:off x="2029968" y="132588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/RH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75688" y="169164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: GRP_RH (RW)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75688" y="201168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: 200 Go/dept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2075688" y="2331720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334256" y="1097280"/>
            <a:ext cx="0" cy="22860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785616" y="1325880"/>
            <a:ext cx="1572768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785616" y="1325880"/>
            <a:ext cx="1572768" cy="2926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1"/>
          <p:cNvSpPr/>
          <p:nvPr/>
        </p:nvSpPr>
        <p:spPr>
          <a:xfrm>
            <a:off x="3785616" y="132588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/Ventes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831336" y="169164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: GRP_VENTES (RO)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831336" y="201168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: 100 Go/dept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831336" y="2331720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089904" y="1097280"/>
            <a:ext cx="0" cy="22860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41264" y="1325880"/>
            <a:ext cx="1572768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541264" y="1325880"/>
            <a:ext cx="1572768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5541264" y="132588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586984" y="169164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: GRP_IT_SUPP (RW)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586984" y="201168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: Illimité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586984" y="2331720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7845552" y="1097280"/>
            <a:ext cx="0" cy="22860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96912" y="1325880"/>
            <a:ext cx="1572768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296912" y="1325880"/>
            <a:ext cx="1572768" cy="2926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8" name="Text 35"/>
          <p:cNvSpPr/>
          <p:nvPr/>
        </p:nvSpPr>
        <p:spPr>
          <a:xfrm>
            <a:off x="7296912" y="132588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/Ressources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342632" y="169164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: Tous (RO)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342632" y="2011680"/>
            <a:ext cx="1481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: 50 Go max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342632" y="2331720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274320" y="28803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multicouche :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74320" y="3200400"/>
            <a:ext cx="2011680" cy="731520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274320" y="320040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5" name="Text 42"/>
          <p:cNvSpPr/>
          <p:nvPr/>
        </p:nvSpPr>
        <p:spPr>
          <a:xfrm>
            <a:off x="411480" y="3200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repos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411480" y="34564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LUKS2 (disques physiques)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2468880" y="3200400"/>
            <a:ext cx="2011680" cy="731520"/>
          </a:xfrm>
          <a:prstGeom prst="rect">
            <a:avLst/>
          </a:prstGeom>
          <a:solidFill>
            <a:srgbClr val="3B82F6">
              <a:alpha val="12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2468880" y="320040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9" name="Text 46"/>
          <p:cNvSpPr/>
          <p:nvPr/>
        </p:nvSpPr>
        <p:spPr>
          <a:xfrm>
            <a:off x="2606040" y="3200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transit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606040" y="34564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SMB3 + TLS 1.3 obligatoire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4663440" y="3200400"/>
            <a:ext cx="2011680" cy="731520"/>
          </a:xfrm>
          <a:prstGeom prst="rect">
            <a:avLst/>
          </a:prstGeom>
          <a:solidFill>
            <a:srgbClr val="EF4444">
              <a:alpha val="12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663440" y="320040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3" name="Text 50"/>
          <p:cNvSpPr/>
          <p:nvPr/>
        </p:nvSpPr>
        <p:spPr>
          <a:xfrm>
            <a:off x="4800600" y="3200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4800600" y="34564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 stockage clés chiffrement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6858000" y="3200400"/>
            <a:ext cx="2011680" cy="73152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6858000" y="3200400"/>
            <a:ext cx="54864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7" name="Text 54"/>
          <p:cNvSpPr/>
          <p:nvPr/>
        </p:nvSpPr>
        <p:spPr>
          <a:xfrm>
            <a:off x="6995160" y="32004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95160" y="34564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@ 80% quota, blocage @ 100%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274320" y="41148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274320" y="41148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61" name="Text 58"/>
          <p:cNvSpPr/>
          <p:nvPr/>
        </p:nvSpPr>
        <p:spPr>
          <a:xfrm>
            <a:off x="411480" y="41148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Chaque département a son propre espace chiffré — impossible d'accéder aux fichiers d'un autre service.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MariaDB — Architecture Primary / Replica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= SGBD open source, 100% compatible MySQL, réplication native binlog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1005840"/>
            <a:ext cx="3200400" cy="1828800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1005840"/>
            <a:ext cx="3200400" cy="320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10058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(VM05-SQL Lyon)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5840" y="141732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+ Écritures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3306 · InnoDB · Buffer pool 70% RAM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LVM quotidien @ 02:00 UTC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query log @ 500ms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0" y="1554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Binlog Replication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&lt; 1s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0" y="1920240"/>
            <a:ext cx="1097280" cy="0"/>
          </a:xfrm>
          <a:prstGeom prst="line">
            <a:avLst/>
          </a:prstGeom>
          <a:noFill/>
          <a:ln w="31750">
            <a:solidFill>
              <a:srgbClr val="3BD4A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212080" y="1005840"/>
            <a:ext cx="3200400" cy="1828800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212080" y="1005840"/>
            <a:ext cx="3200400" cy="320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5303520" y="10058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(Read-Only Marseille)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0" y="1417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seules (Read-Only)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automatique &lt; 10s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Rétention 30j incremental + 1 full/semaine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4320" y="3017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Sécurisation SQL :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65760" y="3447288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3649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: 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508760" y="336499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données interne uniquement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3703320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621024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: 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508760" y="3621024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limités par rôle (finance_ro, it_rw)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5760" y="3959352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877056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: 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508760" y="3877056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obligatoire (require_secure_transport)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4215384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13308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: 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508760" y="413308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statements systématiques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65760" y="4471416"/>
            <a:ext cx="18288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43891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: 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508760" y="43891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queries PII + modifications schéma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34" name="Text 31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RPO = 0 (réplication synchrone). Si le Primary tombe, le Replica prend le relais en &lt; 10s.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Proxmox VE — HA, Snapshots &amp; Efficacité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" y="777240"/>
            <a:ext cx="4114800" cy="201168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777240"/>
            <a:ext cx="4114800" cy="32004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777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Physique Proxmox Host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65760" y="1188720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1560" y="11887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Intel Xeon 12-core (24 vCPU), HT activé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153619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" y="153619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Go DDR4 (115 Go alloués VMs)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65760" y="1883664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51560" y="188366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RAID-6 4×2To HDD + 2×500Go SSD cache ZFS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223113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D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1560" y="223113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1Gbps bonding + failover (10Gbps futur)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754880" y="777240"/>
            <a:ext cx="4114800" cy="2011680"/>
          </a:xfrm>
          <a:prstGeom prst="rect">
            <a:avLst/>
          </a:prstGeom>
          <a:solidFill>
            <a:srgbClr val="A8F0E6">
              <a:alpha val="50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4880" y="777240"/>
            <a:ext cx="411480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777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 &amp; Snapshots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1261872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66360" y="118872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quotidiens : @ 03:00, rétention 5 jours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937760" y="1609344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166360" y="153619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HA : 3 nodes min pour quorum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1956816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66360" y="188366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IPMI : Redémarrage auto VM crashed &lt; 30s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937760" y="2304288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166360" y="223113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migration : Déplacement VMs sans downtime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274320" y="2971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ressources — Over-provisioning ÉVITÉ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74320" y="3337560"/>
            <a:ext cx="2011680" cy="594360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36576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overcommit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6576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 max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468880" y="3337560"/>
            <a:ext cx="2011680" cy="594360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256032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headroom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56032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réservé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663440" y="3337560"/>
            <a:ext cx="2011680" cy="594360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475488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CPU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75488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85%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858000" y="3337560"/>
            <a:ext cx="2011680" cy="594360"/>
          </a:xfrm>
          <a:prstGeom prst="rect">
            <a:avLst/>
          </a:prstGeom>
          <a:solidFill>
            <a:srgbClr val="EF4444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694944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mémoire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94944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90%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74320" y="4114800"/>
            <a:ext cx="8595360" cy="38404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1" name="Text 38"/>
          <p:cNvSpPr/>
          <p:nvPr/>
        </p:nvSpPr>
        <p:spPr>
          <a:xfrm>
            <a:off x="365760" y="411480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VM105 Réserve Expansion : standby pour croissance (Helpdesk Q3 2026, Nextcloud Q4 2026, DR test SQL Q2 2026)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4" name="Text 41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Proxmox = hyperviseur gratuit, performant, avec HA native et live migration sans interruption.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57200" y="18288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Amélioration,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PCA &amp; PRA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24/7, automatisation, continuité et reprise d'activité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III — Ce qui Change vs Phase II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a livré l'infrastructure de base. Phase III ajoute la production-readiness.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54864" cy="502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4"/>
          <p:cNvSpPr/>
          <p:nvPr/>
        </p:nvSpPr>
        <p:spPr>
          <a:xfrm>
            <a:off x="329184" y="914400"/>
            <a:ext cx="8540496" cy="50292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914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centralisé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286000" y="9144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+ Prometheus/Grafana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389120" y="9144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incidents &lt; 5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766560" y="1024128"/>
            <a:ext cx="1965960" cy="274320"/>
          </a:xfrm>
          <a:prstGeom prst="rect">
            <a:avLst/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766560" y="10241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 ↓ 80%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4320" y="1508760"/>
            <a:ext cx="54864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Shape 11"/>
          <p:cNvSpPr/>
          <p:nvPr/>
        </p:nvSpPr>
        <p:spPr>
          <a:xfrm>
            <a:off x="329184" y="1508760"/>
            <a:ext cx="8540496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15087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avancé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286000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agents sur toutes VMs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389120" y="1508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ransomware temps réel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66560" y="1618488"/>
            <a:ext cx="1965960" cy="274320"/>
          </a:xfrm>
          <a:prstGeom prst="rect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6766560" y="161848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+50%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4320" y="2103120"/>
            <a:ext cx="54864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8"/>
          <p:cNvSpPr/>
          <p:nvPr/>
        </p:nvSpPr>
        <p:spPr>
          <a:xfrm>
            <a:off x="329184" y="2103120"/>
            <a:ext cx="8540496" cy="50292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21031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Auto-remédiation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286000" y="21031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orchestration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389120" y="21031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Bloquer IP, redémarrer service auto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766560" y="2212848"/>
            <a:ext cx="1965960" cy="274320"/>
          </a:xfrm>
          <a:prstGeom prst="rect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26" name="Text 23"/>
          <p:cNvSpPr/>
          <p:nvPr/>
        </p:nvSpPr>
        <p:spPr>
          <a:xfrm>
            <a:off x="6766560" y="221284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↓ 90%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74320" y="2697480"/>
            <a:ext cx="54864" cy="502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Shape 25"/>
          <p:cNvSpPr/>
          <p:nvPr/>
        </p:nvSpPr>
        <p:spPr>
          <a:xfrm>
            <a:off x="329184" y="2697480"/>
            <a:ext cx="8540496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26974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immuables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286000" y="2697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storage RAID-6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389120" y="26974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 inviolabilité, conformité audit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766560" y="2807208"/>
            <a:ext cx="1965960" cy="274320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</p:sp>
      <p:sp>
        <p:nvSpPr>
          <p:cNvPr id="33" name="Text 30"/>
          <p:cNvSpPr/>
          <p:nvPr/>
        </p:nvSpPr>
        <p:spPr>
          <a:xfrm>
            <a:off x="6766560" y="28072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+100%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74320" y="329184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Shape 32"/>
          <p:cNvSpPr/>
          <p:nvPr/>
        </p:nvSpPr>
        <p:spPr>
          <a:xfrm>
            <a:off x="329184" y="3291840"/>
            <a:ext cx="8540496" cy="50292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32918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PCA/PRA formalisé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2286000" y="32918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documentés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89120" y="3291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site secondaire &lt; 4h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66560" y="3401568"/>
            <a:ext cx="1965960" cy="274320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6766560" y="340156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garanti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74320" y="3886200"/>
            <a:ext cx="54864" cy="502920"/>
          </a:xfrm>
          <a:prstGeom prst="rect">
            <a:avLst/>
          </a:prstGeom>
          <a:solidFill>
            <a:srgbClr val="1C6070"/>
          </a:solidFill>
          <a:ln/>
        </p:spPr>
      </p:sp>
      <p:sp>
        <p:nvSpPr>
          <p:cNvPr id="42" name="Shape 39"/>
          <p:cNvSpPr/>
          <p:nvPr/>
        </p:nvSpPr>
        <p:spPr>
          <a:xfrm>
            <a:off x="329184" y="3886200"/>
            <a:ext cx="8540496" cy="50292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&amp; Data Classification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2286000" y="3886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 SMB ACL advanced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389120" y="38862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Prévention exfiltration données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6766560" y="3995928"/>
            <a:ext cx="1965960" cy="274320"/>
          </a:xfrm>
          <a:prstGeom prst="rect">
            <a:avLst/>
          </a:prstGeom>
          <a:solidFill>
            <a:srgbClr val="1C6070">
              <a:alpha val="20000"/>
            </a:srgbClr>
          </a:solidFill>
          <a:ln/>
        </p:spPr>
      </p:sp>
      <p:sp>
        <p:nvSpPr>
          <p:cNvPr id="47" name="Text 44"/>
          <p:cNvSpPr/>
          <p:nvPr/>
        </p:nvSpPr>
        <p:spPr>
          <a:xfrm>
            <a:off x="6766560" y="39959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fuite ↓ 95%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0" name="Text 47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Phase III transforme l'infra de base en système production-ready supervisé 24/7.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14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Monitoring &amp;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Surveillance 24/7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EDR + Prometheus/Grafana — détection, alertes, forensique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 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67328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685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l'architecture de monitoring (Wazuh + Prometheus + Grafana)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867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la matrice d'alertes P1-P4 et les temps de réaction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370832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2885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la politique anti-spam pour éviter la fatigue d'alertes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Monitoring — Wazuh + Prometheus + Grafana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outils complémentaires sur VM104 : sécurité (Wazuh) + métriques (Prometheus) + visualisation (Grafana)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2743200" cy="31089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914400"/>
            <a:ext cx="2743200" cy="5486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914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Server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74320" y="1207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+ SIEM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11480" y="1691640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16002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sur chaque VM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480" y="2075688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198424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2459736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236829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Analysis en temps réel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1480" y="2843784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275234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Database (Elastic)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11480" y="3227832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13639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Response (isolation)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200400" y="914400"/>
            <a:ext cx="2743200" cy="31089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200400" y="914400"/>
            <a:ext cx="2743200" cy="5486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3200400" y="914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200400" y="1207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système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337560" y="1691640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566160" y="16002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Exporter (CPU/RAM/Disk)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337560" y="2075688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66160" y="198424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JMX Exporter (SQL)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37560" y="2459736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566160" y="236829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(réseau)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3337560" y="2843784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66160" y="275234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metrics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3337560" y="3227832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66160" y="313639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→ notifications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126480" y="914400"/>
            <a:ext cx="2743200" cy="310896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126480" y="914400"/>
            <a:ext cx="274320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6" name="Text 33"/>
          <p:cNvSpPr/>
          <p:nvPr/>
        </p:nvSpPr>
        <p:spPr>
          <a:xfrm>
            <a:off x="6126480" y="914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126480" y="1207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Web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263640" y="1691640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92240" y="16002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CPU/RAM/Disk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263640" y="2075688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92240" y="198424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sécurité Wazuh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63640" y="2459736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92240" y="236829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Health (HTTP/DNS/SQL)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263640" y="2843784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92240" y="275234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seuils P1-P4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263640" y="3227832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492240" y="313639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PDF hebdomadaires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3017520" y="2103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9" name="Text 46"/>
          <p:cNvSpPr/>
          <p:nvPr/>
        </p:nvSpPr>
        <p:spPr>
          <a:xfrm>
            <a:off x="5943600" y="2103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274320" y="420624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274320" y="420624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2" name="Text 49"/>
          <p:cNvSpPr/>
          <p:nvPr/>
        </p:nvSpPr>
        <p:spPr>
          <a:xfrm>
            <a:off x="411480" y="420624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3 outils open source = vision complète : sécurité + performance + visualisation temps réel.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d'Alertes &amp; Calibration Anti-Spam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" y="777240"/>
            <a:ext cx="54864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Shape 3"/>
          <p:cNvSpPr/>
          <p:nvPr/>
        </p:nvSpPr>
        <p:spPr>
          <a:xfrm>
            <a:off x="329184" y="777240"/>
            <a:ext cx="5431536" cy="45720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777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Critique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554480" y="7772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Niv. 12+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286000" y="777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15 min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154680" y="777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+ isolation VLAN auto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572000" y="7772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Ransomware, infra DOWN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74320" y="1325880"/>
            <a:ext cx="54864" cy="4572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Shape 10"/>
          <p:cNvSpPr/>
          <p:nvPr/>
        </p:nvSpPr>
        <p:spPr>
          <a:xfrm>
            <a:off x="329184" y="1325880"/>
            <a:ext cx="543153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1325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Élevée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554480" y="13258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Niv. 8-11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286000" y="13258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1h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5468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digest horaire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0" y="13258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SSH, SQL lag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74320" y="1874520"/>
            <a:ext cx="54864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Shape 17"/>
          <p:cNvSpPr/>
          <p:nvPr/>
        </p:nvSpPr>
        <p:spPr>
          <a:xfrm>
            <a:off x="329184" y="1874520"/>
            <a:ext cx="5431536" cy="45720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1874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Modérée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554480" y="18745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Niv. 5-7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286000" y="1874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4h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154680" y="18745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GLPI auto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572000" y="18745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expirant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74320" y="2423160"/>
            <a:ext cx="54864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Shape 24"/>
          <p:cNvSpPr/>
          <p:nvPr/>
        </p:nvSpPr>
        <p:spPr>
          <a:xfrm>
            <a:off x="329184" y="2423160"/>
            <a:ext cx="543153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2423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Info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1554480" y="24231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Niv. 1-4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2286000" y="2423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24h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154680" y="2423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Grafana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572000" y="2423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réussie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126480" y="777240"/>
            <a:ext cx="2743200" cy="2194560"/>
          </a:xfrm>
          <a:prstGeom prst="rect">
            <a:avLst/>
          </a:prstGeom>
          <a:solidFill>
            <a:srgbClr val="A8F0E6">
              <a:alpha val="50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126480" y="777240"/>
            <a:ext cx="2743200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2"/>
          <p:cNvSpPr/>
          <p:nvPr/>
        </p:nvSpPr>
        <p:spPr>
          <a:xfrm>
            <a:off x="6126480" y="77724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Anti-Spam Alertes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6217920" y="109728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d'alertes = alertes ignorées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309360" y="1463040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92240" y="139903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10 emails / heure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309360" y="1664208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492240" y="16002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Déduplification &lt; 15 min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309360" y="1865376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492240" y="1801368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 P2/P3 groupé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309360" y="2066544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492240" y="200253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brute-force SSH: 5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309360" y="2267712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492240" y="220370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3 events → 1 alerte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309360" y="2468880"/>
            <a:ext cx="109728" cy="0"/>
          </a:xfrm>
          <a:prstGeom prst="line">
            <a:avLst/>
          </a:prstGeom>
          <a:noFill/>
          <a:ln w="25400">
            <a:solidFill>
              <a:srgbClr val="A8F0E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92240" y="240487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silencieuses backups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274320" y="3246120"/>
            <a:ext cx="8595360" cy="3657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0" name="Text 47"/>
          <p:cNvSpPr/>
          <p:nvPr/>
        </p:nvSpPr>
        <p:spPr>
          <a:xfrm>
            <a:off x="274320" y="33832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Forensique Automatisé (incident P1)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74320" y="3749040"/>
            <a:ext cx="1234440" cy="502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Text 49"/>
          <p:cNvSpPr/>
          <p:nvPr/>
        </p:nvSpPr>
        <p:spPr>
          <a:xfrm>
            <a:off x="27432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Alerte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P1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1508760" y="382219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737360" y="3749040"/>
            <a:ext cx="1234440" cy="50292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</p:spPr>
      </p:sp>
      <p:sp>
        <p:nvSpPr>
          <p:cNvPr id="55" name="Text 52"/>
          <p:cNvSpPr/>
          <p:nvPr/>
        </p:nvSpPr>
        <p:spPr>
          <a:xfrm>
            <a:off x="173736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971800" y="382219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7" name="Shape 54"/>
          <p:cNvSpPr/>
          <p:nvPr/>
        </p:nvSpPr>
        <p:spPr>
          <a:xfrm>
            <a:off x="3200400" y="3749040"/>
            <a:ext cx="1234440" cy="50292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</p:spPr>
      </p:sp>
      <p:sp>
        <p:nvSpPr>
          <p:cNvPr id="58" name="Text 55"/>
          <p:cNvSpPr/>
          <p:nvPr/>
        </p:nvSpPr>
        <p:spPr>
          <a:xfrm>
            <a:off x="320040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Isolation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VLAN-999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4434840" y="382219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0" name="Shape 57"/>
          <p:cNvSpPr/>
          <p:nvPr/>
        </p:nvSpPr>
        <p:spPr>
          <a:xfrm>
            <a:off x="4663440" y="3749040"/>
            <a:ext cx="1234440" cy="50292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</p:spPr>
      </p:sp>
      <p:sp>
        <p:nvSpPr>
          <p:cNvPr id="61" name="Text 58"/>
          <p:cNvSpPr/>
          <p:nvPr/>
        </p:nvSpPr>
        <p:spPr>
          <a:xfrm>
            <a:off x="466344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Collecte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logs+SHA256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5897880" y="382219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6126480" y="3749040"/>
            <a:ext cx="1234440" cy="50292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612648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Rapport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auto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7360920" y="3822192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6" name="Shape 63"/>
          <p:cNvSpPr/>
          <p:nvPr/>
        </p:nvSpPr>
        <p:spPr>
          <a:xfrm>
            <a:off x="7589520" y="3749040"/>
            <a:ext cx="1234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7" name="Text 64"/>
          <p:cNvSpPr/>
          <p:nvPr/>
        </p:nvSpPr>
        <p:spPr>
          <a:xfrm>
            <a:off x="758952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Notification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IT+Direction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274320" y="438912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274320" y="438912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70" name="Text 67"/>
          <p:cNvSpPr/>
          <p:nvPr/>
        </p:nvSpPr>
        <p:spPr>
          <a:xfrm>
            <a:off x="411480" y="438912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Détection → Isolation → Preuve → Rapport : tout automatisé en &lt; 15 min pour les P1.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Automatisation — 4 Scripts Opérationnels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L'automatisation réduit le MTTR de 90% et élimine les erreurs humaines sur les tâches répétitives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91440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9144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create_ad_user.py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60320" y="950976"/>
            <a:ext cx="731520" cy="219456"/>
          </a:xfrm>
          <a:prstGeom prst="rect">
            <a:avLst/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2560320" y="95097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383280" y="950976"/>
            <a:ext cx="1280160" cy="21945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950976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demande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54880" y="9326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Nouveau CSV onboarding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93268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CSV rapport + email chiffré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CSV → création compte AD + groupes + répertoire home + envoi identifiants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4320" y="1828800"/>
            <a:ext cx="8595360" cy="7772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4320" y="1828800"/>
            <a:ext cx="54864" cy="7772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18288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disk_alert.sh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60320" y="1865376"/>
            <a:ext cx="731520" cy="219456"/>
          </a:xfrm>
          <a:prstGeom prst="rect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2560320" y="186537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1865376"/>
            <a:ext cx="1280160" cy="21945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2" name="Text 19"/>
          <p:cNvSpPr/>
          <p:nvPr/>
        </p:nvSpPr>
        <p:spPr>
          <a:xfrm>
            <a:off x="3383280" y="1865376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5 min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754880" y="18470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Prometheus scrape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858000" y="184708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Alerte Slack + nettoyage auto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2194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disques RAID → alerte P2 @ 85% → nettoyage logs &gt; 30j → P1 @ 95%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74320" y="2743200"/>
            <a:ext cx="8595360" cy="7772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74320" y="274320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2743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backup_verify.py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560320" y="2779776"/>
            <a:ext cx="731520" cy="219456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</p:sp>
      <p:sp>
        <p:nvSpPr>
          <p:cNvPr id="30" name="Text 27"/>
          <p:cNvSpPr/>
          <p:nvPr/>
        </p:nvSpPr>
        <p:spPr>
          <a:xfrm>
            <a:off x="2560320" y="277977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3383280" y="2779776"/>
            <a:ext cx="1280160" cy="21945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2" name="Text 29"/>
          <p:cNvSpPr/>
          <p:nvPr/>
        </p:nvSpPr>
        <p:spPr>
          <a:xfrm>
            <a:off x="3383280" y="2779776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Quotidien @ 03:00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754880" y="2761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Cron scheduler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858000" y="276148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JSON rapport + email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backup SQL/fichiers → test restauration sur VM test → réplication Marseille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274320" y="3657600"/>
            <a:ext cx="8595360" cy="7772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274320" y="365760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6576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incident_report.py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560320" y="3694176"/>
            <a:ext cx="731520" cy="219456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2560320" y="369417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3383280" y="3694176"/>
            <a:ext cx="1280160" cy="219456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2" name="Text 39"/>
          <p:cNvSpPr/>
          <p:nvPr/>
        </p:nvSpPr>
        <p:spPr>
          <a:xfrm>
            <a:off x="3383280" y="3694176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demande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4754880" y="36758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Wazuh alerte P1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6858000" y="367588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PDF rapport + email DSI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logs → analyse impact → timeline actions → rapport PDF → notification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48" name="Text 45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4 scripts = zéro intervention manuelle pour les tâches critiques (users, backups, incidents).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F0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144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4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4630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PCA &amp; PRA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Continuité &amp; Reprise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survivre à un sinistre et restaurer l'activité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 :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67328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6850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Différencier PCA (pendant le sinistre) et PRA (après le sinistre)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8678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les scénarios couverts et les RTO/RPO cibles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370832"/>
            <a:ext cx="100584" cy="100584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28853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workflow de basculement automatique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PCA — Plan de Continuité des Activités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= comment l'entreprise continue ses fonctions critiques PENDANT un sinistre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Basculement Automatique (P1)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82880" y="1280160"/>
            <a:ext cx="1097280" cy="59436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82880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Détecté (P1)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280160" y="13716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444752" y="1280160"/>
            <a:ext cx="1097280" cy="59436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444752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Alert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542032" y="13716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706624" y="1280160"/>
            <a:ext cx="1097280" cy="59436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706624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?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803904" y="13716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68496" y="1280160"/>
            <a:ext cx="1097280" cy="594360"/>
          </a:xfrm>
          <a:prstGeom prst="rect">
            <a:avLst/>
          </a:prstGeom>
          <a:solidFill>
            <a:srgbClr val="F97316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968496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30-60s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5065776" y="13716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30368" y="1280160"/>
            <a:ext cx="1097280" cy="59436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30368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327648" y="13716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92240" y="1280160"/>
            <a:ext cx="1097280" cy="594360"/>
          </a:xfrm>
          <a:prstGeom prst="rect">
            <a:avLst/>
          </a:prstGeom>
          <a:solidFill>
            <a:srgbClr val="3BD4AE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92240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Update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min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589520" y="13716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54112" y="1280160"/>
            <a:ext cx="1097280" cy="59436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754112" y="12801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74320" y="21031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&amp; Responsabilités PCA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74320" y="2423160"/>
            <a:ext cx="2011680" cy="640080"/>
          </a:xfrm>
          <a:prstGeom prst="rect">
            <a:avLst/>
          </a:prstGeom>
          <a:solidFill>
            <a:srgbClr val="EF4444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274320" y="242316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384048" y="2423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Coordonnateur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84048" y="26791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 — Activation PCA, escalade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468880" y="2423160"/>
            <a:ext cx="2011680" cy="640080"/>
          </a:xfrm>
          <a:prstGeom prst="rect">
            <a:avLst/>
          </a:prstGeom>
          <a:solidFill>
            <a:srgbClr val="F97316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2468880" y="2423160"/>
            <a:ext cx="54864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" name="Text 31"/>
          <p:cNvSpPr/>
          <p:nvPr/>
        </p:nvSpPr>
        <p:spPr>
          <a:xfrm>
            <a:off x="2578608" y="2423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Lead 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2578608" y="26791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IT #1 — Basculement infra, failover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663440" y="2423160"/>
            <a:ext cx="2011680" cy="640080"/>
          </a:xfrm>
          <a:prstGeom prst="rect">
            <a:avLst/>
          </a:prstGeom>
          <a:solidFill>
            <a:srgbClr val="3B82F6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663440" y="2423160"/>
            <a:ext cx="54864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8" name="Text 35"/>
          <p:cNvSpPr/>
          <p:nvPr/>
        </p:nvSpPr>
        <p:spPr>
          <a:xfrm>
            <a:off x="4773168" y="2423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Support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773168" y="26791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(2) — Assistance utilisateurs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858000" y="2423160"/>
            <a:ext cx="2011680" cy="640080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6858000" y="242316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2" name="Text 39"/>
          <p:cNvSpPr/>
          <p:nvPr/>
        </p:nvSpPr>
        <p:spPr>
          <a:xfrm>
            <a:off x="6967728" y="2423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967728" y="26791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— Notifications employés/partenaires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274320" y="32461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 des tests PCA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65760" y="3703320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94360" y="363016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complet : Semestriel (juin + décembre)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365760" y="3977640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94360" y="390448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partiel : Trimestriel (1-2 services)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65760" y="4251960"/>
            <a:ext cx="137160" cy="0"/>
          </a:xfrm>
          <a:prstGeom prst="line">
            <a:avLst/>
          </a:prstGeom>
          <a:noFill/>
          <a:ln w="31750">
            <a:solidFill>
              <a:srgbClr val="A8F0E6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94360" y="417880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: Résultats, défauts, corrections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3" name="Text 50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PCA = garder les services vivants pendant le sinistre. RTO &lt; 4h pour les services critiques.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 — Plan de Reprise d'Activité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= comment RÉCUPÉRER APRÈS un sinistre majeur — restauration complète en 3 niveaux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2743200" cy="16459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914400"/>
            <a:ext cx="274320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9144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4320" y="1143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65760" y="15087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RTO : &lt; 1h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65760" y="1783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Backups LVM + Snapshots Proxmox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6576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: Checksum fichiers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00400" y="914400"/>
            <a:ext cx="2743200" cy="16459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0" y="914400"/>
            <a:ext cx="2743200" cy="502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9144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200400" y="1143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(Apps)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291840" y="15087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RTO : &lt; 2h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1783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Images VM snapshots + configs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29184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: GPO + Ansible playbooks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126480" y="914400"/>
            <a:ext cx="2743200" cy="164592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126480" y="914400"/>
            <a:ext cx="2743200" cy="502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6126480" y="9144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126480" y="1143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217920" y="15087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RTO : &lt; 4h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217920" y="1783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Proxmox cluster + doc IaC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21792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: Playbooks Ansible complets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274320" y="274320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de Restauration — 9 étapes, durée totale : 3h40 (&lt; 4h RTO)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74320" y="3108960"/>
            <a:ext cx="868680" cy="804672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27432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27432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sinistre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27432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1234440" y="3108960"/>
            <a:ext cx="868680" cy="804672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123444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23444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Isoler infra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123444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2194560" y="3108960"/>
            <a:ext cx="868680" cy="804672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219456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219456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Restaurer BD test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19456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3154680" y="3108960"/>
            <a:ext cx="868680" cy="804672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8"/>
          <p:cNvSpPr/>
          <p:nvPr/>
        </p:nvSpPr>
        <p:spPr>
          <a:xfrm>
            <a:off x="315468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15468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 fichiers</a:t>
            </a:r>
            <a:endParaRPr lang="en-US" sz="750" dirty="0"/>
          </a:p>
        </p:txBody>
      </p:sp>
      <p:sp>
        <p:nvSpPr>
          <p:cNvPr id="43" name="Text 40"/>
          <p:cNvSpPr/>
          <p:nvPr/>
        </p:nvSpPr>
        <p:spPr>
          <a:xfrm>
            <a:off x="315468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4114800" y="3108960"/>
            <a:ext cx="868680" cy="804672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411480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11480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VMs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11480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74920" y="3108960"/>
            <a:ext cx="868680" cy="804672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507492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07492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 Ansible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507492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6035040" y="3108960"/>
            <a:ext cx="868680" cy="804672"/>
          </a:xfrm>
          <a:prstGeom prst="rect">
            <a:avLst/>
          </a:prstGeom>
          <a:solidFill>
            <a:srgbClr val="10B981">
              <a:alpha val="85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603504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603504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services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603504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6995160" y="3108960"/>
            <a:ext cx="868680" cy="804672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699516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699516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Notifier users</a:t>
            </a:r>
            <a:endParaRPr lang="en-US" sz="750" dirty="0"/>
          </a:p>
        </p:txBody>
      </p:sp>
      <p:sp>
        <p:nvSpPr>
          <p:cNvPr id="59" name="Text 56"/>
          <p:cNvSpPr/>
          <p:nvPr/>
        </p:nvSpPr>
        <p:spPr>
          <a:xfrm>
            <a:off x="699516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750" dirty="0"/>
          </a:p>
        </p:txBody>
      </p:sp>
      <p:sp>
        <p:nvSpPr>
          <p:cNvPr id="60" name="Shape 57"/>
          <p:cNvSpPr/>
          <p:nvPr/>
        </p:nvSpPr>
        <p:spPr>
          <a:xfrm>
            <a:off x="7955280" y="3108960"/>
            <a:ext cx="868680" cy="804672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7955280" y="31089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7955280" y="32918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post</a:t>
            </a:r>
            <a:endParaRPr lang="en-US" sz="750" dirty="0"/>
          </a:p>
        </p:txBody>
      </p:sp>
      <p:sp>
        <p:nvSpPr>
          <p:cNvPr id="63" name="Text 60"/>
          <p:cNvSpPr/>
          <p:nvPr/>
        </p:nvSpPr>
        <p:spPr>
          <a:xfrm>
            <a:off x="7955280" y="3657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750" dirty="0"/>
          </a:p>
        </p:txBody>
      </p:sp>
      <p:sp>
        <p:nvSpPr>
          <p:cNvPr id="64" name="Shape 61"/>
          <p:cNvSpPr/>
          <p:nvPr/>
        </p:nvSpPr>
        <p:spPr>
          <a:xfrm>
            <a:off x="274320" y="4114800"/>
            <a:ext cx="8595360" cy="384048"/>
          </a:xfrm>
          <a:prstGeom prst="rect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65" name="Text 62"/>
          <p:cNvSpPr/>
          <p:nvPr/>
        </p:nvSpPr>
        <p:spPr>
          <a:xfrm>
            <a:off x="365760" y="411480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post-reprise : Email OK · Fichiers ACL OK · SQL lag=0 · VPN+MFA OK · Monitoring OK · Backups relancés · Audit logs · Communication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68" name="Text 65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PRA = restauration complète en 3h40 — testé mensuellement, taux de succès 100%.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Scénarios de Sinistre Couverts par le PRA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scénarios de sinistre identifiés — chacun avec sa détection, sa stratégie de reprise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8595360" cy="292608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19456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023360" y="9144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035040" y="9144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 reprise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4320" y="1243584"/>
            <a:ext cx="54864" cy="42062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329184" y="1243584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13" name="Text 10"/>
          <p:cNvSpPr/>
          <p:nvPr/>
        </p:nvSpPr>
        <p:spPr>
          <a:xfrm>
            <a:off x="411480" y="124358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 disque RAID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240280" y="124358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Défaillance HDD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069080" y="124358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alert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080760" y="124358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disque, rebuild RAID auto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1719072"/>
            <a:ext cx="54864" cy="42062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" y="1719072"/>
            <a:ext cx="8540496" cy="420624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9" name="Text 16"/>
          <p:cNvSpPr/>
          <p:nvPr/>
        </p:nvSpPr>
        <p:spPr>
          <a:xfrm>
            <a:off x="411480" y="171907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240280" y="171907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encryption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069080" y="1719072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comportement suspect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080760" y="171907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Isoler VM, restaurer backup WORM clean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4320" y="2194560"/>
            <a:ext cx="54864" cy="42062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Shape 21"/>
          <p:cNvSpPr/>
          <p:nvPr/>
        </p:nvSpPr>
        <p:spPr>
          <a:xfrm>
            <a:off x="329184" y="2194560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5" name="Text 22"/>
          <p:cNvSpPr/>
          <p:nvPr/>
        </p:nvSpPr>
        <p:spPr>
          <a:xfrm>
            <a:off x="411480" y="219456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BD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240280" y="219456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fichier SQL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069080" y="219456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verify fail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080760" y="219456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Restaurer depuis backup incremental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4320" y="2670048"/>
            <a:ext cx="54864" cy="4206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Shape 27"/>
          <p:cNvSpPr/>
          <p:nvPr/>
        </p:nvSpPr>
        <p:spPr>
          <a:xfrm>
            <a:off x="329184" y="2670048"/>
            <a:ext cx="8540496" cy="420624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1" name="Text 28"/>
          <p:cNvSpPr/>
          <p:nvPr/>
        </p:nvSpPr>
        <p:spPr>
          <a:xfrm>
            <a:off x="411480" y="267004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fichiers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240280" y="267004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accidentelle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069080" y="2670048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user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080760" y="267004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 depuis snapshot quotidien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4320" y="3145536"/>
            <a:ext cx="54864" cy="42062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Shape 33"/>
          <p:cNvSpPr/>
          <p:nvPr/>
        </p:nvSpPr>
        <p:spPr>
          <a:xfrm>
            <a:off x="329184" y="3145536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37" name="Text 34"/>
          <p:cNvSpPr/>
          <p:nvPr/>
        </p:nvSpPr>
        <p:spPr>
          <a:xfrm>
            <a:off x="411480" y="314553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 Internet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2240280" y="314553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Coupure FAI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069080" y="314553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DNS/NTP timeout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080760" y="314553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Basculer failover 4G, continuer local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74320" y="3621024"/>
            <a:ext cx="54864" cy="42062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329184" y="3621024"/>
            <a:ext cx="8540496" cy="420624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3" name="Text 40"/>
          <p:cNvSpPr/>
          <p:nvPr/>
        </p:nvSpPr>
        <p:spPr>
          <a:xfrm>
            <a:off x="411480" y="362102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 DDoS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2240280" y="362102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réseau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069080" y="362102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bande-passante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080760" y="362102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pfSense, ISP mitigation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" y="4096512"/>
            <a:ext cx="54864" cy="42062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329184" y="4096512"/>
            <a:ext cx="8540496" cy="420624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49" name="Text 46"/>
          <p:cNvSpPr/>
          <p:nvPr/>
        </p:nvSpPr>
        <p:spPr>
          <a:xfrm>
            <a:off x="411480" y="409651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site (séisme)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240280" y="409651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Catastrophe physique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069080" y="4096512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host fail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6080760" y="409651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full stack site Marseille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5" name="Text 52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Aucun scénario n'est laissé sans réponse — chaque sinistre a sa procédure testée.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Sauvegarde 3-2-1-1-0 &amp; RTO/RPO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182880" y="777240"/>
            <a:ext cx="1600200" cy="1417320"/>
          </a:xfrm>
          <a:prstGeom prst="rect">
            <a:avLst/>
          </a:prstGeom>
          <a:solidFill>
            <a:srgbClr val="1B3A4B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82880" y="8229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82880" y="146304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2880" y="171907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+ 2 sauvegardes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965960" y="777240"/>
            <a:ext cx="1600200" cy="1417320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965960" y="8229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1965960" y="146304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65960" y="171907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Local + Cloud S3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49040" y="777240"/>
            <a:ext cx="1600200" cy="141732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749040" y="8229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3749040" y="146304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hors-site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749040" y="171907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Wasabi S3 cloud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532120" y="777240"/>
            <a:ext cx="1600200" cy="141732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532120" y="8229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800" dirty="0"/>
          </a:p>
        </p:txBody>
      </p:sp>
      <p:sp>
        <p:nvSpPr>
          <p:cNvPr id="19" name="Text 16"/>
          <p:cNvSpPr/>
          <p:nvPr/>
        </p:nvSpPr>
        <p:spPr>
          <a:xfrm>
            <a:off x="5532120" y="146304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immuable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32120" y="171907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anti-ransomware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315200" y="777240"/>
            <a:ext cx="1600200" cy="141732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0" y="8229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800" dirty="0"/>
          </a:p>
        </p:txBody>
      </p:sp>
      <p:sp>
        <p:nvSpPr>
          <p:cNvPr id="23" name="Text 20"/>
          <p:cNvSpPr/>
          <p:nvPr/>
        </p:nvSpPr>
        <p:spPr>
          <a:xfrm>
            <a:off x="7315200" y="146304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315200" y="171907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SureBackup hebdo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74320" y="233172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= temps de reprise | RPO = perte de données acceptable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4206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clair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Relancé en 30 min, perte max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SQL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restaurée en 2h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fichiers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4h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Fichiers récupérés en 2h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Docker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4h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 web relancées en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 Complet (SI)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24h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24h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Tout le SI en 24h 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29" name="Text 25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WORM = Write Once Read Many. Même un admin compromis ne peut PAS supprimer les sauvegardes.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des Risques — 10 Scénarios Identifiés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Probabilité × Impact — permet de prioriser les mitigations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896112"/>
            <a:ext cx="8595360" cy="2743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7" name="Text 4"/>
          <p:cNvSpPr/>
          <p:nvPr/>
        </p:nvSpPr>
        <p:spPr>
          <a:xfrm>
            <a:off x="320040" y="89611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246120" y="8961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977640" y="8961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709160" y="89611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74320" y="1207008"/>
            <a:ext cx="54864" cy="2926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Shape 9"/>
          <p:cNvSpPr/>
          <p:nvPr/>
        </p:nvSpPr>
        <p:spPr>
          <a:xfrm>
            <a:off x="329184" y="1207008"/>
            <a:ext cx="8540496" cy="292608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120700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 DC Samba4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91840" y="120700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23360" y="120700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754880" y="1207008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Réplique MRS auto, failover &lt; 30s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1545336"/>
            <a:ext cx="54864" cy="2926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" y="1545336"/>
            <a:ext cx="8540496" cy="29260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154533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291840" y="154533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023360" y="154533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754880" y="1545336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EDR + backups WORM + isolement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274320" y="1883664"/>
            <a:ext cx="54864" cy="2926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329184" y="1883664"/>
            <a:ext cx="8540496" cy="292608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5" name="Text 22"/>
          <p:cNvSpPr/>
          <p:nvPr/>
        </p:nvSpPr>
        <p:spPr>
          <a:xfrm>
            <a:off x="365760" y="188366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Fuite données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291840" y="188366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023360" y="188366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754880" y="188366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+ chiffrement + SIEM alertes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274320" y="2221992"/>
            <a:ext cx="54864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0" name="Shape 27"/>
          <p:cNvSpPr/>
          <p:nvPr/>
        </p:nvSpPr>
        <p:spPr>
          <a:xfrm>
            <a:off x="329184" y="2221992"/>
            <a:ext cx="8540496" cy="29260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" y="222199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 VPN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3291840" y="22219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023360" y="22219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Majeur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754880" y="22219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Redondance OpenVPN, failover DNS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74320" y="2560320"/>
            <a:ext cx="54864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6" name="Shape 33"/>
          <p:cNvSpPr/>
          <p:nvPr/>
        </p:nvSpPr>
        <p:spPr>
          <a:xfrm>
            <a:off x="329184" y="2560320"/>
            <a:ext cx="8540496" cy="292608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25603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SQL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3291840" y="25603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023360" y="25603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Majeur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754880" y="25603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lag&lt;1s + backup incr.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74320" y="2898648"/>
            <a:ext cx="54864" cy="2926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Shape 39"/>
          <p:cNvSpPr/>
          <p:nvPr/>
        </p:nvSpPr>
        <p:spPr>
          <a:xfrm>
            <a:off x="329184" y="2898648"/>
            <a:ext cx="8540496" cy="29260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3" name="Text 40"/>
          <p:cNvSpPr/>
          <p:nvPr/>
        </p:nvSpPr>
        <p:spPr>
          <a:xfrm>
            <a:off x="365760" y="289864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Internet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3291840" y="289864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023360" y="289864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Majeur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754880" y="2898648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4G + continuité locale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274320" y="3236976"/>
            <a:ext cx="54864" cy="2926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8" name="Shape 45"/>
          <p:cNvSpPr/>
          <p:nvPr/>
        </p:nvSpPr>
        <p:spPr>
          <a:xfrm>
            <a:off x="329184" y="3236976"/>
            <a:ext cx="8540496" cy="292608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49" name="Text 46"/>
          <p:cNvSpPr/>
          <p:nvPr/>
        </p:nvSpPr>
        <p:spPr>
          <a:xfrm>
            <a:off x="365760" y="32369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fichiers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3291840" y="323697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4023360" y="323697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Mineur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4754880" y="3236976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30j + audit Samba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274320" y="3575304"/>
            <a:ext cx="54864" cy="2926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329184" y="3575304"/>
            <a:ext cx="8540496" cy="29260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5" name="Text 52"/>
          <p:cNvSpPr/>
          <p:nvPr/>
        </p:nvSpPr>
        <p:spPr>
          <a:xfrm>
            <a:off x="365760" y="357530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Compromission AD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3291840" y="357530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4023360" y="357530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4754880" y="357530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+ PoLP + isolation réseau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274320" y="3913632"/>
            <a:ext cx="54864" cy="29260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0" name="Shape 57"/>
          <p:cNvSpPr/>
          <p:nvPr/>
        </p:nvSpPr>
        <p:spPr>
          <a:xfrm>
            <a:off x="329184" y="3913632"/>
            <a:ext cx="8540496" cy="292608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61" name="Text 58"/>
          <p:cNvSpPr/>
          <p:nvPr/>
        </p:nvSpPr>
        <p:spPr>
          <a:xfrm>
            <a:off x="365760" y="39136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Indispo monitoring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3291840" y="391363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4023360" y="391363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Mineur</a:t>
            </a:r>
            <a:endParaRPr lang="en-US" sz="900" dirty="0"/>
          </a:p>
        </p:txBody>
      </p:sp>
      <p:sp>
        <p:nvSpPr>
          <p:cNvPr id="64" name="Text 61"/>
          <p:cNvSpPr/>
          <p:nvPr/>
        </p:nvSpPr>
        <p:spPr>
          <a:xfrm>
            <a:off x="4754880" y="391363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backup + syslog forward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274320" y="4251960"/>
            <a:ext cx="54864" cy="2926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6" name="Shape 63"/>
          <p:cNvSpPr/>
          <p:nvPr/>
        </p:nvSpPr>
        <p:spPr>
          <a:xfrm>
            <a:off x="329184" y="4251960"/>
            <a:ext cx="8540496" cy="29260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7" name="Text 64"/>
          <p:cNvSpPr/>
          <p:nvPr/>
        </p:nvSpPr>
        <p:spPr>
          <a:xfrm>
            <a:off x="365760" y="42519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Dépassement stockage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3291840" y="425196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4023360" y="425196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Majeur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4754880" y="42519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 + nettoyage auto + P2@85%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73" name="Text 70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10 risques identifiés, chacun avec une mitigation concrète et testée.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60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57200" y="18288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Synthèse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REAC AIS, bilan SLA, recommandation finale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Couverture REAC — AIS Niveau 6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REAC définit 10 compétences que le dossier doit démontrer. Voici notre couverture :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89611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Shape 4"/>
          <p:cNvSpPr/>
          <p:nvPr/>
        </p:nvSpPr>
        <p:spPr>
          <a:xfrm>
            <a:off x="329184" y="896112"/>
            <a:ext cx="8540496" cy="32004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89611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Administrer les SI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108960" y="8961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VE, Samba4 AD, MariaDB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046720" y="8961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4320" y="1271016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9"/>
          <p:cNvSpPr/>
          <p:nvPr/>
        </p:nvSpPr>
        <p:spPr>
          <a:xfrm>
            <a:off x="329184" y="1271016"/>
            <a:ext cx="8540496" cy="3200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127101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Sécuriser les SI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108960" y="127101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MFA, Chiffrement AES-256, pfSense Deny-by-Default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046720" y="12710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4320" y="1645920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" y="1645920"/>
            <a:ext cx="8540496" cy="32004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Exploiter les SI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108960" y="16459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 EDR, Prometheus/Grafana monitoring 24/7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046720" y="16459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74320" y="2020824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184" y="2020824"/>
            <a:ext cx="8540496" cy="3200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3" name="Text 20"/>
          <p:cNvSpPr/>
          <p:nvPr/>
        </p:nvSpPr>
        <p:spPr>
          <a:xfrm>
            <a:off x="457200" y="202082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Gérer un projet infra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108960" y="202082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MoSCoW, CAPEX/OPEX 3 scénarios, planning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202082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4320" y="2395728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Shape 24"/>
          <p:cNvSpPr/>
          <p:nvPr/>
        </p:nvSpPr>
        <p:spPr>
          <a:xfrm>
            <a:off x="329184" y="2395728"/>
            <a:ext cx="8540496" cy="32004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2395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 Maintenir les SI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3108960" y="239572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IaC, 4 scripts automation, GLPI ITIL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046720" y="239572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4320" y="277063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Shape 29"/>
          <p:cNvSpPr/>
          <p:nvPr/>
        </p:nvSpPr>
        <p:spPr>
          <a:xfrm>
            <a:off x="329184" y="2770632"/>
            <a:ext cx="8540496" cy="3200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277063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Assurer la continuité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108960" y="277063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PRA documentés, RTO &lt; 4h validé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8046720" y="277063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74320" y="3145536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Shape 34"/>
          <p:cNvSpPr/>
          <p:nvPr/>
        </p:nvSpPr>
        <p:spPr>
          <a:xfrm>
            <a:off x="329184" y="3145536"/>
            <a:ext cx="8540496" cy="32004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1455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 Gérer les incidents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3108960" y="314553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P1-P4, workflow forensique auto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8046720" y="314553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74320" y="3520440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2" name="Shape 39"/>
          <p:cNvSpPr/>
          <p:nvPr/>
        </p:nvSpPr>
        <p:spPr>
          <a:xfrm>
            <a:off x="329184" y="3520440"/>
            <a:ext cx="8540496" cy="3200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3520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 Superviser les SI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3108960" y="35204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dashboards, SLA 99.5%+, calibration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8046720" y="352044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74320" y="3895344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Shape 44"/>
          <p:cNvSpPr/>
          <p:nvPr/>
        </p:nvSpPr>
        <p:spPr>
          <a:xfrm>
            <a:off x="329184" y="3895344"/>
            <a:ext cx="8540496" cy="320040"/>
          </a:xfrm>
          <a:prstGeom prst="rect">
            <a:avLst/>
          </a:prstGeom>
          <a:solidFill>
            <a:srgbClr val="F8FBFD"/>
          </a:solidFill>
          <a:ln/>
        </p:spPr>
      </p:sp>
      <p:sp>
        <p:nvSpPr>
          <p:cNvPr id="48" name="Text 45"/>
          <p:cNvSpPr/>
          <p:nvPr/>
        </p:nvSpPr>
        <p:spPr>
          <a:xfrm>
            <a:off x="457200" y="389534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C9 Documenter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3108960" y="389534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rapports Phase I/II/III + scripts + preuves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8046720" y="389534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74320" y="4270248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2" name="Shape 49"/>
          <p:cNvSpPr/>
          <p:nvPr/>
        </p:nvSpPr>
        <p:spPr>
          <a:xfrm>
            <a:off x="329184" y="4270248"/>
            <a:ext cx="8540496" cy="320040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3" name="Text 50"/>
          <p:cNvSpPr/>
          <p:nvPr/>
        </p:nvSpPr>
        <p:spPr>
          <a:xfrm>
            <a:off x="457200" y="427024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C10 Communiquer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3108960" y="427024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orale 45 min, slides didactiques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8046720" y="427024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58" name="Text 55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10/10 compétences REAC couvertes — dossier complet et conforme au référentiel AIS.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Bilan SLA &amp; Métriques Clés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" y="777240"/>
            <a:ext cx="2011680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777240"/>
            <a:ext cx="20116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9144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99.5%+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74320" y="157276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Disponibilité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777240"/>
            <a:ext cx="2011680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468880" y="777240"/>
            <a:ext cx="20116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8"/>
          <p:cNvSpPr/>
          <p:nvPr/>
        </p:nvSpPr>
        <p:spPr>
          <a:xfrm>
            <a:off x="2468880" y="9144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4h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2468880" y="157276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Services Critiques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777240"/>
            <a:ext cx="2011680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777240"/>
            <a:ext cx="20116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4663440" y="9144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15 min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663440" y="157276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(perte max données)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0" y="777240"/>
            <a:ext cx="2011680" cy="137160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858000" y="777240"/>
            <a:ext cx="201168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0" y="9144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858000" y="157276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Conformité ANSSI</a:t>
            </a:r>
            <a:endParaRPr lang="en-US" sz="1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  <a:gridCol w="310896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Latence VPN nomades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80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Réplication SQL lag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seconde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 résolution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Capacité 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objets 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85 users + 6 VMs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Backups test restore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succès mensuel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Alertes P1 → 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Automatisé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MTTD (Mean Time To Detect)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Wazuh temps réel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(Mean Time To Repair)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 (auto)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3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Ansible +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24" name="Text 20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Tous les objectifs SLA sont atteints ou dépassés — infrastructure production-ready.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Prochaines Étapes — Roadmap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5" name="Shape 2"/>
          <p:cNvSpPr/>
          <p:nvPr/>
        </p:nvSpPr>
        <p:spPr>
          <a:xfrm>
            <a:off x="274320" y="777240"/>
            <a:ext cx="8595360" cy="5486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777240"/>
            <a:ext cx="54864" cy="5486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914400"/>
            <a:ext cx="274320" cy="274320"/>
          </a:xfrm>
          <a:prstGeom prst="oval">
            <a:avLst/>
          </a:prstGeom>
          <a:solidFill>
            <a:srgbClr val="EF44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914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777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Wazuh agents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10515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agents EDR sur chaque VM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0" y="868680"/>
            <a:ext cx="914400" cy="201168"/>
          </a:xfrm>
          <a:prstGeom prst="rect">
            <a:avLst/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400800" y="8686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jours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498080" y="868680"/>
            <a:ext cx="1188720" cy="20116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4" name="Text 11"/>
          <p:cNvSpPr/>
          <p:nvPr/>
        </p:nvSpPr>
        <p:spPr>
          <a:xfrm>
            <a:off x="7498080" y="8686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1417320"/>
            <a:ext cx="8595360" cy="5486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4320" y="1417320"/>
            <a:ext cx="54864" cy="5486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Shape 14"/>
          <p:cNvSpPr/>
          <p:nvPr/>
        </p:nvSpPr>
        <p:spPr>
          <a:xfrm>
            <a:off x="457200" y="1554480"/>
            <a:ext cx="274320" cy="274320"/>
          </a:xfrm>
          <a:prstGeom prst="oval">
            <a:avLst/>
          </a:prstGeom>
          <a:solidFill>
            <a:srgbClr val="F97316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1554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68680" y="1417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Prometheus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" y="16916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targets + alertes + Grafana dashboards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400800" y="1508760"/>
            <a:ext cx="914400" cy="201168"/>
          </a:xfrm>
          <a:prstGeom prst="rect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0" y="150876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7498080" y="1508760"/>
            <a:ext cx="1188720" cy="20116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0" y="15087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274320" y="2057400"/>
            <a:ext cx="8595360" cy="5486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4320" y="205740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Shape 24"/>
          <p:cNvSpPr/>
          <p:nvPr/>
        </p:nvSpPr>
        <p:spPr>
          <a:xfrm>
            <a:off x="457200" y="2194560"/>
            <a:ext cx="274320" cy="274320"/>
          </a:xfrm>
          <a:prstGeom prst="oval">
            <a:avLst/>
          </a:prstGeom>
          <a:solidFill>
            <a:srgbClr val="F59E0B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68680" y="2057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PCA complet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contrôlé — valider basculement &lt; 4h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400800" y="2148840"/>
            <a:ext cx="914400" cy="201168"/>
          </a:xfrm>
          <a:prstGeom prst="rect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0" y="21488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498080" y="2148840"/>
            <a:ext cx="1188720" cy="20116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0" y="2148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274320" y="2697480"/>
            <a:ext cx="8595360" cy="5486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274320" y="2697480"/>
            <a:ext cx="54864" cy="5486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Shape 34"/>
          <p:cNvSpPr/>
          <p:nvPr/>
        </p:nvSpPr>
        <p:spPr>
          <a:xfrm>
            <a:off x="457200" y="2834640"/>
            <a:ext cx="274320" cy="274320"/>
          </a:xfrm>
          <a:prstGeom prst="oval">
            <a:avLst/>
          </a:prstGeom>
          <a:solidFill>
            <a:srgbClr val="3B82F6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6868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IT + Support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68680" y="29718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automation + procédures incidents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400800" y="2788920"/>
            <a:ext cx="914400" cy="201168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</p:sp>
      <p:sp>
        <p:nvSpPr>
          <p:cNvPr id="42" name="Text 39"/>
          <p:cNvSpPr/>
          <p:nvPr/>
        </p:nvSpPr>
        <p:spPr>
          <a:xfrm>
            <a:off x="6400800" y="2788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jour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7498080" y="2788920"/>
            <a:ext cx="1188720" cy="20116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4" name="Text 41"/>
          <p:cNvSpPr/>
          <p:nvPr/>
        </p:nvSpPr>
        <p:spPr>
          <a:xfrm>
            <a:off x="7498080" y="278892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74320" y="3337560"/>
            <a:ext cx="8595360" cy="5486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274320" y="3337560"/>
            <a:ext cx="54864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Shape 44"/>
          <p:cNvSpPr/>
          <p:nvPr/>
        </p:nvSpPr>
        <p:spPr>
          <a:xfrm>
            <a:off x="457200" y="3474720"/>
            <a:ext cx="274320" cy="274320"/>
          </a:xfrm>
          <a:prstGeom prst="oval">
            <a:avLst/>
          </a:prstGeom>
          <a:solidFill>
            <a:srgbClr val="10B981"/>
          </a:solidFill>
          <a:ln/>
        </p:spPr>
      </p:sp>
      <p:sp>
        <p:nvSpPr>
          <p:cNvPr id="48" name="Text 45"/>
          <p:cNvSpPr/>
          <p:nvPr/>
        </p:nvSpPr>
        <p:spPr>
          <a:xfrm>
            <a:off x="457200" y="3474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68680" y="3337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sécurité externe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868680" y="361188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Benchmark L1 complet — gap analysis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00800" y="3429000"/>
            <a:ext cx="914400" cy="201168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52" name="Text 49"/>
          <p:cNvSpPr/>
          <p:nvPr/>
        </p:nvSpPr>
        <p:spPr>
          <a:xfrm>
            <a:off x="6400800" y="34290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planifier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7498080" y="3429000"/>
            <a:ext cx="1188720" cy="20116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4" name="Text 51"/>
          <p:cNvSpPr/>
          <p:nvPr/>
        </p:nvSpPr>
        <p:spPr>
          <a:xfrm>
            <a:off x="7498080" y="3429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274320" y="3977640"/>
            <a:ext cx="8595360" cy="548640"/>
          </a:xfrm>
          <a:prstGeom prst="rect">
            <a:avLst/>
          </a:prstGeom>
          <a:solidFill>
            <a:srgbClr val="F8FBFD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274320" y="3977640"/>
            <a:ext cx="54864" cy="548640"/>
          </a:xfrm>
          <a:prstGeom prst="rect">
            <a:avLst/>
          </a:prstGeom>
          <a:solidFill>
            <a:srgbClr val="1C6070"/>
          </a:solidFill>
          <a:ln/>
        </p:spPr>
      </p:sp>
      <p:sp>
        <p:nvSpPr>
          <p:cNvPr id="57" name="Shape 54"/>
          <p:cNvSpPr/>
          <p:nvPr/>
        </p:nvSpPr>
        <p:spPr>
          <a:xfrm>
            <a:off x="457200" y="4114800"/>
            <a:ext cx="274320" cy="274320"/>
          </a:xfrm>
          <a:prstGeom prst="oval">
            <a:avLst/>
          </a:prstGeom>
          <a:solidFill>
            <a:srgbClr val="1C6070"/>
          </a:solidFill>
          <a:ln/>
        </p:spPr>
      </p:sp>
      <p:sp>
        <p:nvSpPr>
          <p:cNvPr id="58" name="Text 55"/>
          <p:cNvSpPr/>
          <p:nvPr/>
        </p:nvSpPr>
        <p:spPr>
          <a:xfrm>
            <a:off x="457200" y="4114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868680" y="3977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VM105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868680" y="42519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 ou Nextcloud selon besoin métier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400800" y="4069080"/>
            <a:ext cx="914400" cy="201168"/>
          </a:xfrm>
          <a:prstGeom prst="rect">
            <a:avLst/>
          </a:prstGeom>
          <a:solidFill>
            <a:srgbClr val="1C6070">
              <a:alpha val="20000"/>
            </a:srgbClr>
          </a:solidFill>
          <a:ln/>
        </p:spPr>
      </p:sp>
      <p:sp>
        <p:nvSpPr>
          <p:cNvPr id="62" name="Text 59"/>
          <p:cNvSpPr/>
          <p:nvPr/>
        </p:nvSpPr>
        <p:spPr>
          <a:xfrm>
            <a:off x="6400800" y="40690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7498080" y="4069080"/>
            <a:ext cx="1188720" cy="201168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4" name="Text 61"/>
          <p:cNvSpPr/>
          <p:nvPr/>
        </p:nvSpPr>
        <p:spPr>
          <a:xfrm>
            <a:off x="7498080" y="40690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Q3-Q4 2026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274320" y="4572000"/>
            <a:ext cx="54864" cy="256032"/>
          </a:xfrm>
          <a:prstGeom prst="rect">
            <a:avLst/>
          </a:prstGeom>
          <a:solidFill>
            <a:srgbClr val="3BD4AE"/>
          </a:solidFill>
          <a:ln/>
        </p:spPr>
      </p:sp>
      <p:sp>
        <p:nvSpPr>
          <p:cNvPr id="67" name="Text 64"/>
          <p:cNvSpPr/>
          <p:nvPr/>
        </p:nvSpPr>
        <p:spPr>
          <a:xfrm>
            <a:off x="411480" y="45720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Le projet est prêt à passer en production — les prochaines étapes sont planifiées et chiffrées.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Glossaire — Acronymes Techniques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74320" y="658368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termes techniques utilisés dans ce dossier, expliqués simplement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0" y="4892040"/>
            <a:ext cx="9144000" cy="73152"/>
          </a:xfrm>
          <a:prstGeom prst="rect">
            <a:avLst/>
          </a:prstGeom>
          <a:solidFill>
            <a:srgbClr val="A8F0E6"/>
          </a:solidFill>
          <a:ln/>
        </p:spPr>
      </p:sp>
      <p:sp>
        <p:nvSpPr>
          <p:cNvPr id="6" name="Shape 3"/>
          <p:cNvSpPr/>
          <p:nvPr/>
        </p:nvSpPr>
        <p:spPr>
          <a:xfrm>
            <a:off x="274320" y="91440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9144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87552" y="91440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 — annuaire centralisé des identités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28016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12801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87552" y="128016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List — liste de droits d'accès par fichier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74320" y="164592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274320" y="164592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ANSSI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87552" y="1645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 Nationale de la Sécurité des SI (référentiel français)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201168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274320" y="201168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87552" y="201168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Expenditure — investissement initial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74320" y="237744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237744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87552" y="23774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Detection &amp; Response — détection sur postes/VMs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74320" y="274320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" y="27432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FIDO2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" y="274320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moderne de clés de sécurité physiques (YubiKey)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274320" y="310896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274320" y="31089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987552" y="310896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Single Master Operations — rôles uniques AD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74320" y="347472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" y="347472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987552" y="34747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Policy Object — règle appliquée à un groupe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74320" y="384048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274320" y="384048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987552" y="384048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— haute disponibilité (redondance)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274320" y="420624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20624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KVM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987552" y="42062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Kernel-based Virtual Machine — hyperviseur Linux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3200400" y="91440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3200400" y="9144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LUKS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3913632" y="91440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Unified Key Setup — chiffrement disque Linux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00400" y="128016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3200400" y="12801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3913632" y="128016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Authentication — authentification forte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3200400" y="164592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3" name="Text 40"/>
          <p:cNvSpPr/>
          <p:nvPr/>
        </p:nvSpPr>
        <p:spPr>
          <a:xfrm>
            <a:off x="3200400" y="164592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3913632" y="1645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Detect — temps moyen de détection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3200400" y="201168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6" name="Text 43"/>
          <p:cNvSpPr/>
          <p:nvPr/>
        </p:nvSpPr>
        <p:spPr>
          <a:xfrm>
            <a:off x="3200400" y="201168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3913632" y="201168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Repair — temps moyen de réparation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3200400" y="237744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49" name="Text 46"/>
          <p:cNvSpPr/>
          <p:nvPr/>
        </p:nvSpPr>
        <p:spPr>
          <a:xfrm>
            <a:off x="3200400" y="237744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3913632" y="23774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Expenditure — coûts récurrents annuels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3200400" y="274320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2" name="Text 49"/>
          <p:cNvSpPr/>
          <p:nvPr/>
        </p:nvSpPr>
        <p:spPr>
          <a:xfrm>
            <a:off x="3200400" y="27432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3913632" y="274320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Unit — unité organisationnelle AD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3200400" y="310896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5" name="Text 52"/>
          <p:cNvSpPr/>
          <p:nvPr/>
        </p:nvSpPr>
        <p:spPr>
          <a:xfrm>
            <a:off x="3200400" y="31089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3913632" y="310896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Continuité des Activités (pendant sinistre)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3200400" y="347472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58" name="Text 55"/>
          <p:cNvSpPr/>
          <p:nvPr/>
        </p:nvSpPr>
        <p:spPr>
          <a:xfrm>
            <a:off x="3200400" y="347472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3913632" y="34747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Reprise d'Activité (après sinistre)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3200400" y="384048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1" name="Text 58"/>
          <p:cNvSpPr/>
          <p:nvPr/>
        </p:nvSpPr>
        <p:spPr>
          <a:xfrm>
            <a:off x="3200400" y="384048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PoLP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3913632" y="384048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 of Least Privilege — moindre privilège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3200400" y="420624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3200400" y="420624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3913632" y="42062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contrôle d'accès par rôle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6126480" y="91440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67" name="Text 64"/>
          <p:cNvSpPr/>
          <p:nvPr/>
        </p:nvSpPr>
        <p:spPr>
          <a:xfrm>
            <a:off x="6126480" y="9144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6839712" y="91440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Point Objective — perte max acceptable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6126480" y="128016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70" name="Text 67"/>
          <p:cNvSpPr/>
          <p:nvPr/>
        </p:nvSpPr>
        <p:spPr>
          <a:xfrm>
            <a:off x="6126480" y="12801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6839712" y="128016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Objective — temps max de reprise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6126480" y="164592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73" name="Text 70"/>
          <p:cNvSpPr/>
          <p:nvPr/>
        </p:nvSpPr>
        <p:spPr>
          <a:xfrm>
            <a:off x="6126480" y="164592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6839712" y="1645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Information &amp; Event Management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6126480" y="201168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76" name="Text 73"/>
          <p:cNvSpPr/>
          <p:nvPr/>
        </p:nvSpPr>
        <p:spPr>
          <a:xfrm>
            <a:off x="6126480" y="201168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6839712" y="201168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Agreement — engagement de service</a:t>
            </a:r>
            <a:endParaRPr lang="en-US" sz="850" dirty="0"/>
          </a:p>
        </p:txBody>
      </p:sp>
      <p:sp>
        <p:nvSpPr>
          <p:cNvPr id="78" name="Shape 75"/>
          <p:cNvSpPr/>
          <p:nvPr/>
        </p:nvSpPr>
        <p:spPr>
          <a:xfrm>
            <a:off x="6126480" y="237744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79" name="Text 76"/>
          <p:cNvSpPr/>
          <p:nvPr/>
        </p:nvSpPr>
        <p:spPr>
          <a:xfrm>
            <a:off x="6126480" y="237744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6839712" y="23774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 — coût total 5 ans</a:t>
            </a:r>
            <a:endParaRPr lang="en-US" sz="850" dirty="0"/>
          </a:p>
        </p:txBody>
      </p:sp>
      <p:sp>
        <p:nvSpPr>
          <p:cNvPr id="81" name="Shape 78"/>
          <p:cNvSpPr/>
          <p:nvPr/>
        </p:nvSpPr>
        <p:spPr>
          <a:xfrm>
            <a:off x="6126480" y="274320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82" name="Text 79"/>
          <p:cNvSpPr/>
          <p:nvPr/>
        </p:nvSpPr>
        <p:spPr>
          <a:xfrm>
            <a:off x="6126480" y="27432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6839712" y="274320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 One-Time Password — code 6 chiffres 30s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6126480" y="310896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85" name="Text 82"/>
          <p:cNvSpPr/>
          <p:nvPr/>
        </p:nvSpPr>
        <p:spPr>
          <a:xfrm>
            <a:off x="6126480" y="31089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</a:t>
            </a:r>
            <a:endParaRPr lang="en-US" sz="900" dirty="0"/>
          </a:p>
        </p:txBody>
      </p:sp>
      <p:sp>
        <p:nvSpPr>
          <p:cNvPr id="86" name="Text 83"/>
          <p:cNvSpPr/>
          <p:nvPr/>
        </p:nvSpPr>
        <p:spPr>
          <a:xfrm>
            <a:off x="6839712" y="310896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LAN — réseau virtuel isolé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6126480" y="347472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88" name="Text 85"/>
          <p:cNvSpPr/>
          <p:nvPr/>
        </p:nvSpPr>
        <p:spPr>
          <a:xfrm>
            <a:off x="6126480" y="347472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6839712" y="34747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Private Network — tunnel chiffré</a:t>
            </a:r>
            <a:endParaRPr lang="en-US" sz="850" dirty="0"/>
          </a:p>
        </p:txBody>
      </p:sp>
      <p:sp>
        <p:nvSpPr>
          <p:cNvPr id="90" name="Shape 87"/>
          <p:cNvSpPr/>
          <p:nvPr/>
        </p:nvSpPr>
        <p:spPr>
          <a:xfrm>
            <a:off x="6126480" y="3840480"/>
            <a:ext cx="640080" cy="310896"/>
          </a:xfrm>
          <a:prstGeom prst="rect">
            <a:avLst/>
          </a:prstGeom>
          <a:solidFill>
            <a:srgbClr val="3BD4AE">
              <a:alpha val="20000"/>
            </a:srgbClr>
          </a:solidFill>
          <a:ln/>
        </p:spPr>
      </p:sp>
      <p:sp>
        <p:nvSpPr>
          <p:cNvPr id="91" name="Text 88"/>
          <p:cNvSpPr/>
          <p:nvPr/>
        </p:nvSpPr>
        <p:spPr>
          <a:xfrm>
            <a:off x="6126480" y="384048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6839712" y="384048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 Read Many — stockage immuable anti-ransomware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C60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09728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 Scénario B offre le meilleur rapport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/ budget pour Nova Syndicate"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914400" y="29260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18 850 € sur 5 ans  ·  ANSSI 90%  ·  10/10 compétences REAC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vendor lock-in  ·  100% open source  ·  Stack maîtrisable par 2 admins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4400" y="4023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Infrastructure — Nova Syndicate  |  Avril 2026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BD4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3A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!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 Passons à la discussion.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32004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Syndicate — Dossier AIS Niveau 6 Complet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· Phase II · Phase III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Avril 2026  |  CONFIDENTIEL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0" y="1097280"/>
            <a:ext cx="2286000" cy="2286000"/>
          </a:xfrm>
          <a:prstGeom prst="oval">
            <a:avLst/>
          </a:prstGeom>
          <a:solidFill>
            <a:srgbClr val="1B3A4B">
              <a:alpha val="88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7132320" y="2560320"/>
            <a:ext cx="1371600" cy="1371600"/>
          </a:xfrm>
          <a:prstGeom prst="oval">
            <a:avLst/>
          </a:prstGeom>
          <a:solidFill>
            <a:srgbClr val="1B3A4B">
              <a:alpha val="9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7772400" y="548640"/>
            <a:ext cx="822960" cy="822960"/>
          </a:xfrm>
          <a:prstGeom prst="oval">
            <a:avLst/>
          </a:prstGeom>
          <a:solidFill>
            <a:srgbClr val="1B3A4B">
              <a:alpha val="85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Nova Syndicate — Dossier Complet AIS Niveau 6</dc:title>
  <dc:subject>PptxGenJS Presentation</dc:subject>
  <dc:creator>Nova Syndicate — Équipe IT</dc:creator>
  <cp:lastModifiedBy>Nova Syndicate — Équipe IT</cp:lastModifiedBy>
  <cp:revision>1</cp:revision>
  <dcterms:created xsi:type="dcterms:W3CDTF">2026-04-14T06:33:03Z</dcterms:created>
  <dcterms:modified xsi:type="dcterms:W3CDTF">2026-04-14T06:33:03Z</dcterms:modified>
</cp:coreProperties>
</file>