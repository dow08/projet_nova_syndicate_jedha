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TCO 5 ans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Scénario A
(Open Source)</c:v>
                  </c:pt>
                  <c:pt idx="1">
                    <c:v>Scénario B
(Balanced ★)</c:v>
                  </c:pt>
                  <c:pt idx="2">
                    <c:v>Scénario C
(Enterprise)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55800</c:v>
                </c:pt>
                <c:pt idx="1">
                  <c:v>109300</c:v>
                </c:pt>
                <c:pt idx="2">
                  <c:v>778400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62244"/>
          </a:solidFill>
          <a:ln w="12700">
            <a:solidFill>
              <a:srgbClr val="1622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0" y="0"/>
            <a:ext cx="5303520" cy="51435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0" y="0"/>
            <a:ext cx="73152" cy="51435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54864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2E75B6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</a:t>
            </a:r>
            <a:endParaRPr lang="en-US" sz="12000" dirty="0"/>
          </a:p>
        </p:txBody>
      </p:sp>
      <p:sp>
        <p:nvSpPr>
          <p:cNvPr id="6" name="Text 4"/>
          <p:cNvSpPr/>
          <p:nvPr/>
        </p:nvSpPr>
        <p:spPr>
          <a:xfrm>
            <a:off x="4114800" y="7315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SYNDICATE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114800" y="1572768"/>
            <a:ext cx="438912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0" y="16916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IT Sécurisée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14800" y="22402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Complète — Phases I, II &amp; III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0" y="292608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employés  |  Lyon + Marseille + Nomades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: ANSSI · ISO 27001:2022 · RGPD · ITIL 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Avril 2026  |  CONFIDENTIEL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0"/>
          </a:xfrm>
          <a:prstGeom prst="line">
            <a:avLst/>
          </a:prstGeom>
          <a:noFill/>
          <a:ln w="1905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SYNDICATE  |  Confidentiel  |  Avril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4297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97280"/>
            <a:ext cx="50292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09728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41832" y="11521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Syndicate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41832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de l'entreprise et contexte de la mission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1856232"/>
            <a:ext cx="4297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1856232"/>
            <a:ext cx="50292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856232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41832" y="19110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 — Architecture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41832" y="21762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besoins, MoSCoW, infrastructure proposée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615184"/>
            <a:ext cx="4297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615184"/>
            <a:ext cx="50292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615184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41832" y="26700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Directory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41832" y="29352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place Samba4 AD, OUs, RBAC, GPO, réplication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374136"/>
            <a:ext cx="4297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374136"/>
            <a:ext cx="50292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374136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41832" y="34290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II — Déploiement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41832" y="36941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Fichiers, SQL, Proxmox, segmentation réseau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4133088"/>
            <a:ext cx="4297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4133088"/>
            <a:ext cx="50292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133088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41832" y="4187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&amp; Monitoring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41832" y="44531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SIEM, Prometheus, Grafana, alertes, active response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46320" y="1097280"/>
            <a:ext cx="4297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46320" y="1097280"/>
            <a:ext cx="50292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109728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422392" y="11521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Cybersécurité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422392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ANSSI, ISO 27001, RGPD — règles appliquées par phase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46320" y="1856232"/>
            <a:ext cx="4297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846320" y="1856232"/>
            <a:ext cx="50292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1856232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422392" y="19110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/ PRA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422392" y="21762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Continuité de service, reprise d'activité, RTO/RPO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846320" y="2615184"/>
            <a:ext cx="4297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846320" y="2615184"/>
            <a:ext cx="50292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46320" y="2615184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422392" y="26700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Topologie GNS3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422392" y="29352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réseau complète — tous composants et connexions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846320" y="3374136"/>
            <a:ext cx="4297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846320" y="3374136"/>
            <a:ext cx="50292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46320" y="3374136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5422392" y="34290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/ OPEX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5422392" y="36941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financière — justification du choix infrastructure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Syndicate — Présentation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Logistique High-Tech : médical, aérospatial, défense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0"/>
          </a:xfrm>
          <a:prstGeom prst="line">
            <a:avLst/>
          </a:prstGeom>
          <a:noFill/>
          <a:ln w="1905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SYNDICATE  |  Confidentiel  |  Avril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1920240" cy="1005840"/>
          </a:xfrm>
          <a:prstGeom prst="rect">
            <a:avLst/>
          </a:prstGeom>
          <a:solidFill>
            <a:srgbClr val="1F386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234440"/>
            <a:ext cx="1920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65760" y="1726387"/>
            <a:ext cx="192024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Employés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1143000"/>
            <a:ext cx="1920240" cy="1005840"/>
          </a:xfrm>
          <a:prstGeom prst="rect">
            <a:avLst/>
          </a:prstGeom>
          <a:solidFill>
            <a:srgbClr val="2E75B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68880" y="1234440"/>
            <a:ext cx="1920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468880" y="1726387"/>
            <a:ext cx="192024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+ Nomades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1143000"/>
            <a:ext cx="1920240" cy="1005840"/>
          </a:xfrm>
          <a:prstGeom prst="rect">
            <a:avLst/>
          </a:prstGeom>
          <a:solidFill>
            <a:srgbClr val="16A08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0" y="1234440"/>
            <a:ext cx="1920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99.5%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572000" y="1726387"/>
            <a:ext cx="192024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Cible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675120" y="1143000"/>
            <a:ext cx="1920240" cy="1005840"/>
          </a:xfrm>
          <a:prstGeom prst="rect">
            <a:avLst/>
          </a:prstGeom>
          <a:solidFill>
            <a:srgbClr val="1F386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75120" y="1234440"/>
            <a:ext cx="1920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675120" y="1726387"/>
            <a:ext cx="192024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IT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2331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Problèmes identifiés avant le projet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2697480"/>
            <a:ext cx="27432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69748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27249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annuaire centralisé (AD/LDAP)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044952"/>
            <a:ext cx="27432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04495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" y="30723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Partages fichiers incohérents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3392424"/>
            <a:ext cx="27432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39242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1520" y="34198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surveillance ni d'alertes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3739896"/>
            <a:ext cx="27432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73989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31520" y="37673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politique de sauvegarde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087368"/>
            <a:ext cx="27432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8736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31520" y="4114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fragmentée Lyon/Marseille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65760" y="4434840"/>
            <a:ext cx="27432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43484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31520" y="44622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accès distant sécurisé VPN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754880" y="2331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apportées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754880" y="2697480"/>
            <a:ext cx="274320" cy="2560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269748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120640" y="27249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Samba4 Active Directory (Kerberos + LDAP)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754880" y="3044952"/>
            <a:ext cx="274320" cy="2560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304495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120640" y="30723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SMB3 chiffré, ACL par département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754880" y="3392424"/>
            <a:ext cx="274320" cy="2560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54880" y="339242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120640" y="34198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SIEM + Prometheus + Grafana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754880" y="3739896"/>
            <a:ext cx="274320" cy="2560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54880" y="373989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120640" y="37673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3-2-1-1-0 + S3 WORM immuable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754880" y="4087368"/>
            <a:ext cx="274320" cy="2560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54880" y="408736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120640" y="4114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Réplication inter-sites + PCA/PRA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754880" y="4434840"/>
            <a:ext cx="274320" cy="2560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54880" y="443484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120640" y="44622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OpenVPN + MFA + VLAN nomades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 — Architecture Proposée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4 piliers de l'infrastructure Nova Syndicate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0"/>
          </a:xfrm>
          <a:prstGeom prst="line">
            <a:avLst/>
          </a:prstGeom>
          <a:noFill/>
          <a:ln w="1905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SYNDICATE  |  Confidentiel  |  Avril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2011680" cy="35204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8912" y="1170432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Identité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38912" y="1536192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Samba4 Active Directory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1883664"/>
            <a:ext cx="1737360" cy="0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" y="1993392"/>
            <a:ext cx="201168" cy="201168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96596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Kerberos AES-256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" y="2615184"/>
            <a:ext cx="201168" cy="201168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58775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+ PoLP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" y="3236976"/>
            <a:ext cx="201168" cy="201168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209544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GPO sécurité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" y="3858768"/>
            <a:ext cx="201168" cy="201168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83133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Réplication Lyon↔MRS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14600" y="1097280"/>
            <a:ext cx="2011680" cy="35204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587752" y="1170432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587752" y="1536192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Samba File Server + LUKS2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651760" y="1883664"/>
            <a:ext cx="1737360" cy="0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24328" y="1993392"/>
            <a:ext cx="201168" cy="201168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80360" y="196596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Chiffrement AES-256-XTS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624328" y="2615184"/>
            <a:ext cx="201168" cy="201168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80360" y="258775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SMB3 signé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624328" y="3236976"/>
            <a:ext cx="201168" cy="201168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80360" y="3209544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partages + quotas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624328" y="3858768"/>
            <a:ext cx="201168" cy="201168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80360" y="383133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 par département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1097280"/>
            <a:ext cx="2011680" cy="352044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736592" y="1170432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736592" y="1536192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MariaDB Primary/Replica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00600" y="1883664"/>
            <a:ext cx="1737360" cy="0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73168" y="1993392"/>
            <a:ext cx="201168" cy="201168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0" y="196596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compliant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73168" y="2615184"/>
            <a:ext cx="201168" cy="201168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0" y="258775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Réplication TLS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73168" y="3236976"/>
            <a:ext cx="201168" cy="201168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0" y="3209544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plugin SQL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73168" y="3858768"/>
            <a:ext cx="201168" cy="201168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0" y="383133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quotidien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812280" y="1097280"/>
            <a:ext cx="2011680" cy="35204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885432" y="1170432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Virtualisation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885432" y="1536192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Proxmox VE Cluster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949440" y="1883664"/>
            <a:ext cx="1737360" cy="0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922008" y="1993392"/>
            <a:ext cx="201168" cy="201168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78040" y="196596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VMs + 1 réserve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922008" y="2615184"/>
            <a:ext cx="201168" cy="201168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178040" y="258775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 03:00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922008" y="3236976"/>
            <a:ext cx="201168" cy="201168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178040" y="3209544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migration HA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922008" y="3858768"/>
            <a:ext cx="201168" cy="201168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178040" y="383133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VLANs isolés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Directory — Mise en Place Samba4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Installation, OUs, RBAC, GPO et réplication inter-sites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0"/>
          </a:xfrm>
          <a:prstGeom prst="line">
            <a:avLst/>
          </a:prstGeom>
          <a:noFill/>
          <a:ln w="1905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SYNDICATE  |  Confidentiel  |  Avril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1704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OU — nova-syndicate.local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5179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DC=nova-syndicate,DC=local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04672" y="18562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OU=NovaSyndicate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60704" y="21945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0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OU=EmployesLyon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60704" y="25328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0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OU=EmployesMRS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60704" y="287121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0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OU=Nomades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60704" y="320954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OU=ITAdmins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60704" y="35478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OU=Direction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60704" y="38862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OU=Servers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60704" y="42245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OU=Workstations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63440" y="10972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— Groupes et Droits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1444752"/>
            <a:ext cx="4297680" cy="530352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444752"/>
            <a:ext cx="73152" cy="5303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28032" y="149047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GRP-IT-Admins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28032" y="169164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serveurs + SSH + AD admin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2057400"/>
            <a:ext cx="4297680" cy="530352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2057400"/>
            <a:ext cx="73152" cy="53035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28032" y="21031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GRP-Direction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28032" y="230428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Partages privilégiés + CRM complet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2670048"/>
            <a:ext cx="4297680" cy="530352"/>
          </a:xfrm>
          <a:prstGeom prst="rect">
            <a:avLst/>
          </a:prstGeom>
          <a:solidFill>
            <a:srgbClr val="FFFFFF"/>
          </a:solidFill>
          <a:ln w="25400">
            <a:solidFill>
              <a:srgbClr val="2E75B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2670048"/>
            <a:ext cx="73152" cy="53035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28032" y="271576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GRP-Employes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28032" y="291693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dir + commun + email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3282696"/>
            <a:ext cx="4297680" cy="530352"/>
          </a:xfrm>
          <a:prstGeom prst="rect">
            <a:avLst/>
          </a:prstGeom>
          <a:solidFill>
            <a:srgbClr val="FFFFFF"/>
          </a:solidFill>
          <a:ln w="25400">
            <a:solidFill>
              <a:srgbClr val="16A08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3282696"/>
            <a:ext cx="73152" cy="530352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28032" y="332841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GRP-VPN-Autorise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28032" y="352958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Tunnel OpenVPN autorisé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63440" y="3895344"/>
            <a:ext cx="4297680" cy="530352"/>
          </a:xfrm>
          <a:prstGeom prst="rect">
            <a:avLst/>
          </a:prstGeom>
          <a:solidFill>
            <a:srgbClr val="FFFFFF"/>
          </a:solidFill>
          <a:ln w="25400">
            <a:solidFill>
              <a:srgbClr val="8898A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63440" y="3895344"/>
            <a:ext cx="73152" cy="530352"/>
          </a:xfrm>
          <a:prstGeom prst="rect">
            <a:avLst/>
          </a:prstGeom>
          <a:solidFill>
            <a:srgbClr val="8898AA"/>
          </a:solidFill>
          <a:ln w="12700">
            <a:solidFill>
              <a:srgbClr val="8898A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28032" y="394106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GRP-Backup-Ops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28032" y="414223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seule — backup uniquement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663440" y="4526280"/>
            <a:ext cx="4297680" cy="2926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du Moindre Privilège (PoLP): Défaut = AUCUN accès, droits attribués explicitement via groupes AD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II — Déploiement Technique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chiffrés, SQL répliqué, Proxmox VE, pfSense VLAN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0"/>
          </a:xfrm>
          <a:prstGeom prst="line">
            <a:avLst/>
          </a:prstGeom>
          <a:noFill/>
          <a:ln w="1905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SYNDICATE  |  Confidentiel  |  Avril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265176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F386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97280"/>
            <a:ext cx="2651760" cy="5486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188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 de Fichiers Samba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536192"/>
            <a:ext cx="24688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LUKS2 AES-256-XTS (disque chiffré)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SMB3 + chiffrement obligatoire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partages ACL par département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Quotas par utilisateur/service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097280"/>
            <a:ext cx="265176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6A08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097280"/>
            <a:ext cx="2651760" cy="54864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188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MariaDB Primary/Replica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1536192"/>
            <a:ext cx="24688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Réplication TLS Lyon → Marseille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require_secure_transport=ON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plugin — logs DDL/DML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02:00 + test restauration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097280"/>
            <a:ext cx="274320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5B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097280"/>
            <a:ext cx="274320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188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Proxmox VE Cluster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26480" y="1536192"/>
            <a:ext cx="25603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VM101: DC01 | VM103: Monitoring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VM104: SQL+SMB | VM102: pfSense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 quotidiens 03:00 — 5j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migration sans downtime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3108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Réseau — 8 VLANs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1737360" cy="621792"/>
          </a:xfrm>
          <a:prstGeom prst="rect">
            <a:avLst/>
          </a:prstGeom>
          <a:solidFill>
            <a:srgbClr val="1F386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8912" y="3511296"/>
            <a:ext cx="685800" cy="201168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511296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10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11480" y="373075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Serveurs Lyon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" y="389534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172.16.10.0/24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240280" y="3456432"/>
            <a:ext cx="1737360" cy="621792"/>
          </a:xfrm>
          <a:prstGeom prst="rect">
            <a:avLst/>
          </a:prstGeom>
          <a:solidFill>
            <a:srgbClr val="1F386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313432" y="3511296"/>
            <a:ext cx="685800" cy="201168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13432" y="3511296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20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286000" y="373075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Serveurs MRS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286000" y="389534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172.16.20.0/24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65760" y="4169664"/>
            <a:ext cx="1737360" cy="621792"/>
          </a:xfrm>
          <a:prstGeom prst="rect">
            <a:avLst/>
          </a:prstGeom>
          <a:solidFill>
            <a:srgbClr val="2E75B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38912" y="4224528"/>
            <a:ext cx="685800" cy="201168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8912" y="422452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30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11480" y="444398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Postes Lyon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11480" y="460857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192.168.10.0/24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240280" y="4169664"/>
            <a:ext cx="1737360" cy="621792"/>
          </a:xfrm>
          <a:prstGeom prst="rect">
            <a:avLst/>
          </a:prstGeom>
          <a:solidFill>
            <a:srgbClr val="C0392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313432" y="4224528"/>
            <a:ext cx="685800" cy="201168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313432" y="422452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999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0" y="444398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Quarantaine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286000" y="460857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10.99.0.0/24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160520" y="3456432"/>
            <a:ext cx="4617720" cy="38404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pfSense : Deny-by-Default — TOUT est bloqué sauf règles explicites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160520" y="3886200"/>
            <a:ext cx="4617720" cy="9601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 CIS Benchmark L2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clés uniquement — root désactivé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fail2ban + auditd sur toutes les VMs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GPO USB désactivé — Patch management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SYNDICATE  |  Confidentiel  |  Avril 2026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SIEM — Déploiement et Configuration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temps réel | Détection d'intrusion | Réponse automatique aux incidents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8412480" cy="0"/>
          </a:xfrm>
          <a:prstGeom prst="line">
            <a:avLst/>
          </a:prstGeom>
          <a:noFill/>
          <a:ln w="12700">
            <a:solidFill>
              <a:srgbClr val="2E75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97280"/>
            <a:ext cx="2011680" cy="1097280"/>
          </a:xfrm>
          <a:prstGeom prst="rect">
            <a:avLst/>
          </a:prstGeom>
          <a:solidFill>
            <a:srgbClr val="2E75B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8912" y="1170432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Manager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" y="1508760"/>
            <a:ext cx="1865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les logs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VM103 — 172.16.10.30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0" y="1097280"/>
            <a:ext cx="2011680" cy="109728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33472" y="1170432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Indexer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33472" y="1508760"/>
            <a:ext cx="1865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Elasticsearch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Rétention 12 mois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097280"/>
            <a:ext cx="2011680" cy="1097280"/>
          </a:xfrm>
          <a:prstGeom prst="rect">
            <a:avLst/>
          </a:prstGeom>
          <a:solidFill>
            <a:srgbClr val="16A08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28032" y="1170432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Dashboard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28032" y="1508760"/>
            <a:ext cx="1865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web HTTPS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443 sécurisé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49440" y="1097280"/>
            <a:ext cx="2011680" cy="1097280"/>
          </a:xfrm>
          <a:prstGeom prst="rect">
            <a:avLst/>
          </a:prstGeom>
          <a:solidFill>
            <a:srgbClr val="16537E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022592" y="1170432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(4 VMs)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022592" y="1508760"/>
            <a:ext cx="1865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 sur DC01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SQL, pfSense, Monitor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23591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Personnalisées Nova Syndicate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2706624"/>
            <a:ext cx="640080" cy="3474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706624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100001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051560" y="2706624"/>
            <a:ext cx="384048" cy="347472"/>
          </a:xfrm>
          <a:prstGeom prst="rect">
            <a:avLst/>
          </a:prstGeom>
          <a:solidFill>
            <a:srgbClr val="1A2B3C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" y="270662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Niv.8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508760" y="272491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AD hors horaires (22h-06h)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136392"/>
            <a:ext cx="64008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13639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100002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051560" y="3136392"/>
            <a:ext cx="384048" cy="347472"/>
          </a:xfrm>
          <a:prstGeom prst="rect">
            <a:avLst/>
          </a:prstGeom>
          <a:solidFill>
            <a:srgbClr val="1A2B3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51560" y="313639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Niv.10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508760" y="3154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 force AD — 5 échecs / 60s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3566160"/>
            <a:ext cx="64008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56616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100003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051560" y="3566160"/>
            <a:ext cx="384048" cy="347472"/>
          </a:xfrm>
          <a:prstGeom prst="rect">
            <a:avLst/>
          </a:prstGeom>
          <a:solidFill>
            <a:srgbClr val="1A2B3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51560" y="35661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Niv.12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508760" y="358444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compte AD hors procédure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65760" y="3995928"/>
            <a:ext cx="64008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399592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100004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051560" y="3995928"/>
            <a:ext cx="384048" cy="347472"/>
          </a:xfrm>
          <a:prstGeom prst="rect">
            <a:avLst/>
          </a:prstGeom>
          <a:solidFill>
            <a:srgbClr val="1A2B3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51560" y="399592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Niv.14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508760" y="401421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Activité depuis VLAN 999 (quarantaine)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65760" y="4425696"/>
            <a:ext cx="64008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425696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100005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051560" y="4425696"/>
            <a:ext cx="384048" cy="347472"/>
          </a:xfrm>
          <a:prstGeom prst="rect">
            <a:avLst/>
          </a:prstGeom>
          <a:solidFill>
            <a:srgbClr val="1A2B3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51560" y="442569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Niv.13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508760" y="444398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Modification /etc/passwd ou /etc/shadow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035040" y="2359152"/>
            <a:ext cx="2743200" cy="2560320"/>
          </a:xfrm>
          <a:prstGeom prst="rect">
            <a:avLst/>
          </a:prstGeom>
          <a:solidFill>
            <a:srgbClr val="1A2B3C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126480" y="2423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Response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6126480" y="2788920"/>
            <a:ext cx="274320" cy="2926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26480" y="278892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492240" y="28072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détecte alerte niv. 12+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126480" y="3172968"/>
            <a:ext cx="274320" cy="2926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26480" y="3172968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492240" y="319125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incident_report.py déclenché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126480" y="3557016"/>
            <a:ext cx="274320" cy="2926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26480" y="3557016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492240" y="357530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 forensique SHA256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126480" y="3941064"/>
            <a:ext cx="274320" cy="2926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26480" y="394106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492240" y="39593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→ VLAN 999 auto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126480" y="4325112"/>
            <a:ext cx="274320" cy="2926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126480" y="432511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6492240" y="4343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IT + rapport PDF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126480" y="4709160"/>
            <a:ext cx="274320" cy="2926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126480" y="470916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6492240" y="47274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GLPI créé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— Prometheus &amp; Grafana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 métriques 15s | Alertes SLA | Dashboards temps réel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0"/>
          </a:xfrm>
          <a:prstGeom prst="line">
            <a:avLst/>
          </a:prstGeom>
          <a:noFill/>
          <a:ln w="1905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SYNDICATE  |  Confidentiel  |  Avril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Métriques Surveillées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444752"/>
            <a:ext cx="137160" cy="38404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48132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&gt; 85%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16733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5 min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1947672"/>
            <a:ext cx="13716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98424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&lt; 10%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217627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 min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450592"/>
            <a:ext cx="137160" cy="38404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48716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Disque &gt; 85%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26791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10 min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2953512"/>
            <a:ext cx="13716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99008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Réplication lag &gt; 30s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318211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 min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13716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4930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MariaDB DOWN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" y="36850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30s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3959352"/>
            <a:ext cx="137160" cy="38404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99592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pfSense — perte paquets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94360" y="4187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5 min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297680" y="1097280"/>
            <a:ext cx="228600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297680" y="1097280"/>
            <a:ext cx="2286000" cy="5486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0" y="11887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389120" y="1536192"/>
            <a:ext cx="210312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 toutes les 15s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jours rétention TSDB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Écoute sur 127.0.0.1:9090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Alertmanager → email IT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675120" y="1097280"/>
            <a:ext cx="219456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16A08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675120" y="1097280"/>
            <a:ext cx="2194560" cy="54864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66560" y="1188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766560" y="1536192"/>
            <a:ext cx="20116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+ auth AD intégrée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Dashboards: Node/MariaDB/pfSense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visuelles temps réel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max 8h (sécurité)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297680" y="32461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Exporters déployés sur chaque VM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297680" y="3566160"/>
            <a:ext cx="1481328" cy="1097280"/>
          </a:xfrm>
          <a:prstGeom prst="rect">
            <a:avLst/>
          </a:prstGeom>
          <a:solidFill>
            <a:srgbClr val="1F386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370832" y="3639312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node_exporter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370832" y="3931920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(CPU/RAM/Disk)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370832" y="4315968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D0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:9100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870448" y="3566160"/>
            <a:ext cx="1481328" cy="1097280"/>
          </a:xfrm>
          <a:prstGeom prst="rect">
            <a:avLst/>
          </a:prstGeom>
          <a:solidFill>
            <a:srgbClr val="1F386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943600" y="3639312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mysqld_exporter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943600" y="3931920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MariaDB (queries, lag)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943600" y="4315968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D0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:9104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443216" y="3566160"/>
            <a:ext cx="1481328" cy="1097280"/>
          </a:xfrm>
          <a:prstGeom prst="rect">
            <a:avLst/>
          </a:prstGeom>
          <a:solidFill>
            <a:srgbClr val="1F386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7516368" y="3639312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snmp_exporter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516368" y="3931920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pfSense réseau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516368" y="4315968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D0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:9116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Cybersécurité — Règles Appliquées par Phase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ANSSI · ISO 27001:2022 · RGPD — Implémentation technique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0"/>
          </a:xfrm>
          <a:prstGeom prst="line">
            <a:avLst/>
          </a:prstGeom>
          <a:noFill/>
          <a:ln w="1905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SYNDICATE  |  Confidentiel  |  Avril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2834640" cy="38404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9728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4320" y="1508760"/>
            <a:ext cx="28346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554480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ANSSI R06 — 8 VLANs + pfSense deny-by-default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167128"/>
            <a:ext cx="2834640" cy="621792"/>
          </a:xfrm>
          <a:prstGeom prst="rect">
            <a:avLst/>
          </a:prstGeom>
          <a:solidFill>
            <a:srgbClr val="F0F4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212848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A.5.15 — RBAC: défaut = AUCUN accès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825496"/>
            <a:ext cx="28346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871216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ANSSI R43 — LUKS2 + TLS 1.3 + SMB3 chiffré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483864"/>
            <a:ext cx="2834640" cy="621792"/>
          </a:xfrm>
          <a:prstGeom prst="rect">
            <a:avLst/>
          </a:prstGeom>
          <a:solidFill>
            <a:srgbClr val="F0F4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529584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RGPD Art.25 — Privacy by Design dès l'architecture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4142232"/>
            <a:ext cx="28346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187952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A.8.13 — Règle 3-2-1-1-0 + S3 WORM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0" y="1097280"/>
            <a:ext cx="2834640" cy="38404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0" y="109728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II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200400" y="1508760"/>
            <a:ext cx="28346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1554480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ANSSI R20 — Kerberos AES-256 + MFA TOTP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0" y="2167128"/>
            <a:ext cx="2834640" cy="621792"/>
          </a:xfrm>
          <a:prstGeom prst="rect">
            <a:avLst/>
          </a:prstGeom>
          <a:solidFill>
            <a:srgbClr val="F0F4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0" y="2212848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A.8.5 — NTLMv1 désactivé, NTLMv2 seul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0" y="2825496"/>
            <a:ext cx="28346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2871216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ANSSI R15 — PAM + comptes admin dédiés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0" y="3483864"/>
            <a:ext cx="2834640" cy="621792"/>
          </a:xfrm>
          <a:prstGeom prst="rect">
            <a:avLst/>
          </a:prstGeom>
          <a:solidFill>
            <a:srgbClr val="F0F4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91840" y="3529584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A.8.24 — MariaDB TLS + LUKS2 disques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0" y="4142232"/>
            <a:ext cx="28346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0" y="4187952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L2 — fail2ban + auditd + SSH clés uniquement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26480" y="1097280"/>
            <a:ext cx="2834640" cy="384048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26480" y="109728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III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26480" y="1508760"/>
            <a:ext cx="28346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0" y="1554480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ANSSI R38 — Wazuh SIEM: logs 12 mois immuables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26480" y="2167128"/>
            <a:ext cx="2834640" cy="621792"/>
          </a:xfrm>
          <a:prstGeom prst="rect">
            <a:avLst/>
          </a:prstGeom>
          <a:solidFill>
            <a:srgbClr val="F0F4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0" y="2212848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A.5.28 — Forensique SHA256 + chaîne custody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126480" y="2825496"/>
            <a:ext cx="28346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0" y="2871216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RGPD Art.33 — Notification CNIL auto (72h)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126480" y="3483864"/>
            <a:ext cx="2834640" cy="621792"/>
          </a:xfrm>
          <a:prstGeom prst="rect">
            <a:avLst/>
          </a:prstGeom>
          <a:solidFill>
            <a:srgbClr val="F0F4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17920" y="3529584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ANSSI R39 — Active Response: isolation VLAN 999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126480" y="4142232"/>
            <a:ext cx="28346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17920" y="4187952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A.8.16 — 5 règles custom Nova (100001-100005)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74320" y="4645152"/>
            <a:ext cx="8595360" cy="3657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4320" y="464515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Failles corrigées: eval→appel direct (RCE) | Fernet chiffrement credentials | stdin 1MB limit | S3_BUCKET quotée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&amp; PRA — Continuité et Reprise d'Activité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RTO/RPO définis par service | Procédures testées | PRA &lt; 3h40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0"/>
          </a:xfrm>
          <a:prstGeom prst="line">
            <a:avLst/>
          </a:prstGeom>
          <a:noFill/>
          <a:ln w="1905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SYNDICATE  |  Confidentiel  |  Avril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0972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 / RPO par Service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44752"/>
          <a:ext cx="8412480" cy="2011680"/>
        </p:xfrm>
        <a:graphic>
          <a:graphicData uri="http://schemas.openxmlformats.org/drawingml/2006/table">
            <a:tbl>
              <a:tblPr/>
              <a:tblGrid>
                <a:gridCol w="2286000"/>
                <a:gridCol w="822960"/>
                <a:gridCol w="1097280"/>
                <a:gridCol w="4206240"/>
              </a:tblGrid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Mécanisme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Directory / DNS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(réplication sync)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DC02 Marseille prend le relais automatiquement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Partages SMB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Samba réplique Marseille — lecture seule d'abord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CRM (MariaDB)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Replica devient Primary (&lt; 10s downtime)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VPN Nomades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pfSense Marseille backup + redirection DNS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 Wazuh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Redémarrage service + snapshot VM103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65760" y="358444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 — Procédure de Restauration Complète (&lt; 3h40)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65760" y="3931920"/>
            <a:ext cx="1325880" cy="868680"/>
          </a:xfrm>
          <a:prstGeom prst="rect">
            <a:avLst/>
          </a:prstGeom>
          <a:solidFill>
            <a:srgbClr val="1F386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11480" y="397764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Proxmox Host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11480" y="434340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Déployer ISO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00:20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1691640" y="4370832"/>
            <a:ext cx="137160" cy="0"/>
          </a:xfrm>
          <a:prstGeom prst="line">
            <a:avLst/>
          </a:prstGeom>
          <a:noFill/>
          <a:ln w="25400">
            <a:solidFill>
              <a:srgbClr val="8898A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828800" y="3931920"/>
            <a:ext cx="1325880" cy="868680"/>
          </a:xfrm>
          <a:prstGeom prst="rect">
            <a:avLst/>
          </a:prstGeom>
          <a:solidFill>
            <a:srgbClr val="2E75B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1874520" y="397764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pfSense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874520" y="434340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snapshot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+ 00:30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154680" y="4370832"/>
            <a:ext cx="137160" cy="0"/>
          </a:xfrm>
          <a:prstGeom prst="line">
            <a:avLst/>
          </a:prstGeom>
          <a:noFill/>
          <a:ln w="25400">
            <a:solidFill>
              <a:srgbClr val="8898A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291840" y="3931920"/>
            <a:ext cx="1325880" cy="868680"/>
          </a:xfrm>
          <a:prstGeom prst="rect">
            <a:avLst/>
          </a:prstGeom>
          <a:solidFill>
            <a:srgbClr val="16A08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3337560" y="397764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DC01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337560" y="434340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VM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+ 00:45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617720" y="4370832"/>
            <a:ext cx="137160" cy="0"/>
          </a:xfrm>
          <a:prstGeom prst="line">
            <a:avLst/>
          </a:prstGeom>
          <a:noFill/>
          <a:ln w="25400">
            <a:solidFill>
              <a:srgbClr val="8898A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754880" y="3931920"/>
            <a:ext cx="1325880" cy="868680"/>
          </a:xfrm>
          <a:prstGeom prst="rect">
            <a:avLst/>
          </a:prstGeom>
          <a:solidFill>
            <a:srgbClr val="2E75B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4800600" y="397764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SQL+SMB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800600" y="434340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+ check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+ 01:00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080760" y="4370832"/>
            <a:ext cx="137160" cy="0"/>
          </a:xfrm>
          <a:prstGeom prst="line">
            <a:avLst/>
          </a:prstGeom>
          <a:noFill/>
          <a:ln w="25400">
            <a:solidFill>
              <a:srgbClr val="8898A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217920" y="3931920"/>
            <a:ext cx="1325880" cy="868680"/>
          </a:xfrm>
          <a:prstGeom prst="rect">
            <a:avLst/>
          </a:prstGeom>
          <a:solidFill>
            <a:srgbClr val="1F386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6263640" y="397764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Monitoring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263640" y="434340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services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+ 00:30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7543800" y="4370832"/>
            <a:ext cx="137160" cy="0"/>
          </a:xfrm>
          <a:prstGeom prst="line">
            <a:avLst/>
          </a:prstGeom>
          <a:noFill/>
          <a:ln w="25400">
            <a:solidFill>
              <a:srgbClr val="8898AA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680960" y="3931920"/>
            <a:ext cx="1325880" cy="868680"/>
          </a:xfrm>
          <a:prstGeom prst="rect">
            <a:avLst/>
          </a:prstGeom>
          <a:solidFill>
            <a:srgbClr val="27AE6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7726680" y="397764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Validation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7726680" y="434340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9 pts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+ 00:35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365760" y="4864608"/>
            <a:ext cx="8412480" cy="2743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65760" y="48646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 totale : 3h40  |  Objectif RTO Global : &lt; 4h  ✓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SYNDICATE  |  Confidentiel  |  Avril 2026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Topologie GNS3 — Infrastructure Simulée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composants réseau, connexions et configurations pour reproduction dans GNS3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8412480" cy="0"/>
          </a:xfrm>
          <a:prstGeom prst="line">
            <a:avLst/>
          </a:prstGeom>
          <a:noFill/>
          <a:ln w="12700">
            <a:solidFill>
              <a:srgbClr val="2E75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97280"/>
            <a:ext cx="1600200" cy="100584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8912" y="1170432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R-WAN-01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" y="1463040"/>
            <a:ext cx="1453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IOSv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Routeur WAN + NAT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84832" y="1097280"/>
            <a:ext cx="1600200" cy="1005840"/>
          </a:xfrm>
          <a:prstGeom prst="rect">
            <a:avLst/>
          </a:prstGeom>
          <a:solidFill>
            <a:srgbClr val="1F386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157984" y="1170432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pfSense-LYON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57984" y="1463040"/>
            <a:ext cx="1453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pfSense 2.7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+ VPN + IDS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803904" y="1097280"/>
            <a:ext cx="1600200" cy="1005840"/>
          </a:xfrm>
          <a:prstGeom prst="rect">
            <a:avLst/>
          </a:prstGeom>
          <a:solidFill>
            <a:srgbClr val="1F386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77056" y="1170432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pfSense-MRS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77056" y="1463040"/>
            <a:ext cx="1453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pfSense 2.7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Marseille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22976" y="1097280"/>
            <a:ext cx="1600200" cy="1005840"/>
          </a:xfrm>
          <a:prstGeom prst="rect">
            <a:avLst/>
          </a:prstGeom>
          <a:solidFill>
            <a:srgbClr val="16537E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596128" y="1170432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SW-CORE-LYON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596128" y="1463040"/>
            <a:ext cx="1453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IOSvL2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10,30,40,999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242048" y="1097280"/>
            <a:ext cx="1600200" cy="1005840"/>
          </a:xfrm>
          <a:prstGeom prst="rect">
            <a:avLst/>
          </a:prstGeom>
          <a:solidFill>
            <a:srgbClr val="16537E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0" y="1170432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SW-CORE-MRS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0" y="1463040"/>
            <a:ext cx="1453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IOSvL2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20,50,60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22402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VMs QEMU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578608"/>
            <a:ext cx="2651760" cy="1051560"/>
          </a:xfrm>
          <a:prstGeom prst="rect">
            <a:avLst/>
          </a:prstGeom>
          <a:solidFill>
            <a:srgbClr val="1F386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7200" y="26517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VM01-DC01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2926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Debian12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Samba4 AD + DNS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33101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D0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172.16.10.10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0" y="2578608"/>
            <a:ext cx="2651760" cy="1051560"/>
          </a:xfrm>
          <a:prstGeom prst="rect">
            <a:avLst/>
          </a:prstGeom>
          <a:solidFill>
            <a:srgbClr val="16A08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291840" y="26517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VM03-Monitor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91840" y="2926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Debian12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Wazuh+Prometheus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291840" y="33101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D0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172.16.10.30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035040" y="2578608"/>
            <a:ext cx="2651760" cy="1051560"/>
          </a:xfrm>
          <a:prstGeom prst="rect">
            <a:avLst/>
          </a:prstGeom>
          <a:solidFill>
            <a:srgbClr val="2E75B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126480" y="26517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VM04-SQL-SMB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26480" y="2926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Debian12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MariaDB+Samba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126480" y="33101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D0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172.16.10.20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5760" y="3767328"/>
            <a:ext cx="2651760" cy="1051560"/>
          </a:xfrm>
          <a:prstGeom prst="rect">
            <a:avLst/>
          </a:prstGeom>
          <a:solidFill>
            <a:srgbClr val="16537E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57200" y="38404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VM-DC02-MRS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4114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Debian12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Samba4 Réplique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7200" y="44988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D0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172.16.20.10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200400" y="3767328"/>
            <a:ext cx="2651760" cy="1051560"/>
          </a:xfrm>
          <a:prstGeom prst="rect">
            <a:avLst/>
          </a:prstGeom>
          <a:solidFill>
            <a:srgbClr val="44444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3291840" y="38404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PC-01-Lyon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291840" y="4114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Win10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 test VLAN30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291840" y="44988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D0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DHCP .10.x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035040" y="3767328"/>
            <a:ext cx="2651760" cy="1051560"/>
          </a:xfrm>
          <a:prstGeom prst="rect">
            <a:avLst/>
          </a:prstGeom>
          <a:solidFill>
            <a:srgbClr val="8898A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126480" y="38404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PC-Nomade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126480" y="4114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Win10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OpenVPN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126480" y="44988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D0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10.10.0.x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/ OPEX — Justification du Choix Infrastructure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3 scénarios sur 5 ans — Recommandation : Scénario B Balanced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0"/>
          </a:xfrm>
          <a:prstGeom prst="line">
            <a:avLst/>
          </a:prstGeom>
          <a:noFill/>
          <a:ln w="1905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SYNDICATE  |  Confidentiel  |  Avril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407408" y="1005840"/>
            <a:ext cx="1975104" cy="3913632"/>
          </a:xfrm>
          <a:prstGeom prst="rect">
            <a:avLst/>
          </a:prstGeom>
          <a:solidFill>
            <a:srgbClr val="F0FFF4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1051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 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(Light Open Source)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480560" y="1051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Scénario 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0" y="1051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 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536192"/>
            <a:ext cx="2103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60934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An 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0" y="1536192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160934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34 800 €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80560" y="1536192"/>
            <a:ext cx="1828800" cy="457200"/>
          </a:xfrm>
          <a:prstGeom prst="rect">
            <a:avLst/>
          </a:prstGeom>
          <a:solidFill>
            <a:srgbClr val="E8F8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0560" y="160934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52 300 €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0" y="1536192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160934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185 400 €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066544"/>
            <a:ext cx="2103120" cy="457200"/>
          </a:xfrm>
          <a:prstGeom prst="rect">
            <a:avLst/>
          </a:prstGeom>
          <a:solidFill>
            <a:srgbClr val="F0F4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13969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OPEX Annuel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560320" y="2066544"/>
            <a:ext cx="1828800" cy="457200"/>
          </a:xfrm>
          <a:prstGeom prst="rect">
            <a:avLst/>
          </a:prstGeom>
          <a:solidFill>
            <a:srgbClr val="F0F4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0" y="213969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4 200 €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480560" y="2066544"/>
            <a:ext cx="1828800" cy="457200"/>
          </a:xfrm>
          <a:prstGeom prst="rect">
            <a:avLst/>
          </a:prstGeom>
          <a:solidFill>
            <a:srgbClr val="E8F8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80560" y="213969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11 400 €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0" y="2066544"/>
            <a:ext cx="1828800" cy="457200"/>
          </a:xfrm>
          <a:prstGeom prst="rect">
            <a:avLst/>
          </a:prstGeom>
          <a:solidFill>
            <a:srgbClr val="F0F4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213969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89 600 €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2596896"/>
            <a:ext cx="2103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267004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TCO 5 ans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560320" y="2596896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0320" y="26700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55 800 €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480560" y="2596896"/>
            <a:ext cx="1828800" cy="457200"/>
          </a:xfrm>
          <a:prstGeom prst="rect">
            <a:avLst/>
          </a:prstGeom>
          <a:solidFill>
            <a:srgbClr val="E8F8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80560" y="26700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109 300 €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00800" y="2596896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0" y="26700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778 400 €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65760" y="3127248"/>
            <a:ext cx="2103120" cy="457200"/>
          </a:xfrm>
          <a:prstGeom prst="rect">
            <a:avLst/>
          </a:prstGeom>
          <a:solidFill>
            <a:srgbClr val="F0F4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3200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ANSSI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560320" y="3127248"/>
            <a:ext cx="1828800" cy="457200"/>
          </a:xfrm>
          <a:prstGeom prst="rect">
            <a:avLst/>
          </a:prstGeom>
          <a:solidFill>
            <a:srgbClr val="F0F4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60320" y="3200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31/42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480560" y="3127248"/>
            <a:ext cx="1828800" cy="457200"/>
          </a:xfrm>
          <a:prstGeom prst="rect">
            <a:avLst/>
          </a:prstGeom>
          <a:solidFill>
            <a:srgbClr val="E8F8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80560" y="3200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38/42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00800" y="3127248"/>
            <a:ext cx="1828800" cy="457200"/>
          </a:xfrm>
          <a:prstGeom prst="rect">
            <a:avLst/>
          </a:prstGeom>
          <a:solidFill>
            <a:srgbClr val="F0F4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0" y="3200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42/42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65760" y="3657600"/>
            <a:ext cx="2103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37307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éditeur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560320" y="3657600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560320" y="37307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Communauté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480560" y="3657600"/>
            <a:ext cx="1828800" cy="457200"/>
          </a:xfrm>
          <a:prstGeom prst="rect">
            <a:avLst/>
          </a:prstGeom>
          <a:solidFill>
            <a:srgbClr val="E8F8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480560" y="37307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Partiel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400800" y="3657600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00800" y="37307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365760" y="4187952"/>
            <a:ext cx="2103120" cy="457200"/>
          </a:xfrm>
          <a:prstGeom prst="rect">
            <a:avLst/>
          </a:prstGeom>
          <a:solidFill>
            <a:srgbClr val="F0F4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" y="426110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Dépendance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560320" y="4187952"/>
            <a:ext cx="1828800" cy="457200"/>
          </a:xfrm>
          <a:prstGeom prst="rect">
            <a:avLst/>
          </a:prstGeom>
          <a:solidFill>
            <a:srgbClr val="F0F4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560320" y="426110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480560" y="4187952"/>
            <a:ext cx="1828800" cy="457200"/>
          </a:xfrm>
          <a:prstGeom prst="rect">
            <a:avLst/>
          </a:prstGeom>
          <a:solidFill>
            <a:srgbClr val="E8F8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480560" y="426110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6400800" y="4187952"/>
            <a:ext cx="1828800" cy="457200"/>
          </a:xfrm>
          <a:prstGeom prst="rect">
            <a:avLst/>
          </a:prstGeom>
          <a:solidFill>
            <a:srgbClr val="F0F4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00800" y="426110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 (Microsoft)</a:t>
            </a:r>
            <a:endParaRPr lang="en-US" sz="1100" dirty="0"/>
          </a:p>
        </p:txBody>
      </p:sp>
      <p:graphicFrame>
        <p:nvGraphicFramePr>
          <p:cNvPr id="59" name="Chart 0" descr=""/>
          <p:cNvGraphicFramePr/>
          <p:nvPr/>
        </p:nvGraphicFramePr>
        <p:xfrm>
          <a:off x="365760" y="4681728"/>
          <a:ext cx="9144" cy="91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0" name="Shape 57"/>
          <p:cNvSpPr/>
          <p:nvPr/>
        </p:nvSpPr>
        <p:spPr>
          <a:xfrm>
            <a:off x="365760" y="4681728"/>
            <a:ext cx="8412480" cy="43891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365760" y="468172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Scénario B Balanced retenu — Économie de 669 100 € sur 5 ans vs Scénario C  |  38/42 recommandations ANSSI  |  Zéro dépendance Microsoft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62244"/>
          </a:solidFill>
          <a:ln w="12700">
            <a:solidFill>
              <a:srgbClr val="1622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— Nova Syndicate Phase I, II &amp; III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896112"/>
            <a:ext cx="365760" cy="43891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96112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93268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sécurisée multi-sites : Samba4 AD + Proxmox + MariaDB + pfSense VLAN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463040"/>
            <a:ext cx="365760" cy="438912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463040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1499616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complet : Wazuh SIEM + Prometheus + Grafana — alertes P1/P2/P3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029968"/>
            <a:ext cx="365760" cy="43891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029968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" y="2066544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Cybersécurité intégrée : ANSSI + ISO 27001:2022 + RGPD — 5 couches défense en profondeur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596896"/>
            <a:ext cx="365760" cy="438912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596896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8680" y="263347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PCA/PRA documentés : RTO global &lt; 4h — procédures testées et validées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163824"/>
            <a:ext cx="365760" cy="43891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163824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8680" y="320040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corrigés : 4 failles sécurité résolues (injection, chiffrement, OOM, word-split)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730752"/>
            <a:ext cx="365760" cy="438912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730752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68680" y="376732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 B Balanced — 109 300 € TCO 5 ans — économie 669K€ vs Enterprise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0" y="4407408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Cybersécurité Nova Syndicate  |  Avril 2026  |  CONFIDENTIEL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Nova Syndicate — Présentation Complète</dc:title>
  <dc:subject>PptxGenJS Presentation</dc:subject>
  <dc:creator>Nova Syndicate — Équipe IT</dc:creator>
  <cp:lastModifiedBy>Nova Syndicate — Équipe IT</cp:lastModifiedBy>
  <cp:revision>1</cp:revision>
  <dcterms:created xsi:type="dcterms:W3CDTF">2026-04-18T09:01:49Z</dcterms:created>
  <dcterms:modified xsi:type="dcterms:W3CDTF">2026-04-18T09:01:49Z</dcterms:modified>
</cp:coreProperties>
</file>